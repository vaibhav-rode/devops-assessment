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5" r:id="rId4"/>
    <p:sldId id="266" r:id="rId5"/>
    <p:sldId id="260" r:id="rId6"/>
    <p:sldId id="261" r:id="rId7"/>
    <p:sldId id="262" r:id="rId8"/>
    <p:sldId id="267" r:id="rId9"/>
    <p:sldId id="268" r:id="rId10"/>
    <p:sldId id="257" r:id="rId11"/>
    <p:sldId id="258" r:id="rId12"/>
    <p:sldId id="270" r:id="rId13"/>
    <p:sldId id="271"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9451D-1187-4E19-A222-78AE68A691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74017F-44C2-4598-9506-C1867778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E3C4E7A-70E3-425D-9E48-77D94D847C22}"/>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5" name="Footer Placeholder 4">
            <a:extLst>
              <a:ext uri="{FF2B5EF4-FFF2-40B4-BE49-F238E27FC236}">
                <a16:creationId xmlns:a16="http://schemas.microsoft.com/office/drawing/2014/main" id="{978E1A7C-3A44-4563-922E-BEADDD39EA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FBDB8D-0FD8-43BE-8A93-EE4A849632F8}"/>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3873031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7F2E-063C-4BD3-B804-87A9DE1CBB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A34797-48F8-4A0F-8FA3-A55B8F022A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763A8-0701-4069-B1CA-C2D003FF5CC6}"/>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5" name="Footer Placeholder 4">
            <a:extLst>
              <a:ext uri="{FF2B5EF4-FFF2-40B4-BE49-F238E27FC236}">
                <a16:creationId xmlns:a16="http://schemas.microsoft.com/office/drawing/2014/main" id="{13368995-4572-40C4-8992-B85C907567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15D825-0ED7-43D1-9EFB-602AABB2E3A6}"/>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3632319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00F8E-8C78-40ED-AD71-3AD2E1A6C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EC9A5B-6B5F-498C-9B96-4F80FCFF50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3D5133B-4860-4E5C-A7A1-6382F0C6C7DB}"/>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5" name="Footer Placeholder 4">
            <a:extLst>
              <a:ext uri="{FF2B5EF4-FFF2-40B4-BE49-F238E27FC236}">
                <a16:creationId xmlns:a16="http://schemas.microsoft.com/office/drawing/2014/main" id="{1CA98A57-CB0F-44CC-977E-E9CF2114F6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81852-87E5-4B6B-8C5A-1A58C91790E1}"/>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111557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43D1-F6A1-48B2-9BC6-3BEE2E26C5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0C7017-4B0F-4180-82AC-A361AFC03BC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42FE48-50C1-4804-963E-9625EB51018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27E005-1926-48EB-9C7F-A6C4BFD8DE60}"/>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6" name="Footer Placeholder 5">
            <a:extLst>
              <a:ext uri="{FF2B5EF4-FFF2-40B4-BE49-F238E27FC236}">
                <a16:creationId xmlns:a16="http://schemas.microsoft.com/office/drawing/2014/main" id="{B21FF335-8855-4241-A361-E28CBC1C0CF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95C9D1-2DA7-401C-8C1E-691A235B22AA}"/>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897592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51161-7868-4A12-BA73-65E6E8EFA3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C14114-63E5-4AD8-9B3D-183D4AB40E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0AE26C-1E09-4CB8-A237-869A15BECD7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89E3B2-C08E-4DEA-9E1B-DFA28B4EA3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B116FC2-3457-4EBC-8C07-5E25704C88D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C7F682-3252-44B1-ABE6-AFC26739CF20}"/>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8" name="Footer Placeholder 7">
            <a:extLst>
              <a:ext uri="{FF2B5EF4-FFF2-40B4-BE49-F238E27FC236}">
                <a16:creationId xmlns:a16="http://schemas.microsoft.com/office/drawing/2014/main" id="{92573F2E-AB6F-4789-9CF2-DC1A94A944F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9C88092-AD17-417E-A805-37CC6CE67D35}"/>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185711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BB542-569D-429E-A674-7270FF056B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2F55BB-EAC7-40ED-8E6F-75BDE0EF2CF6}"/>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4" name="Footer Placeholder 3">
            <a:extLst>
              <a:ext uri="{FF2B5EF4-FFF2-40B4-BE49-F238E27FC236}">
                <a16:creationId xmlns:a16="http://schemas.microsoft.com/office/drawing/2014/main" id="{E6F77A28-35F9-47E7-B277-595CC5DA12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75D616-902C-4BFD-A4B5-F1702E3B8649}"/>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3242847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77C32B-82A1-4E01-A4B7-2448DBEAECB2}"/>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3" name="Footer Placeholder 2">
            <a:extLst>
              <a:ext uri="{FF2B5EF4-FFF2-40B4-BE49-F238E27FC236}">
                <a16:creationId xmlns:a16="http://schemas.microsoft.com/office/drawing/2014/main" id="{9D1B96AB-24CA-4CEB-8B10-4A60F5F51D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8965D5-D14F-4B6D-A427-8158FE0E2AA7}"/>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2183100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3BE64-E769-4EEA-A70E-BF8B57463E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40ED0-E956-458E-B190-11FB53028D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8FF176-2724-4A80-AF98-391D132C85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C41F0F2-15C0-4759-AE95-E9D2B5CD0963}"/>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6" name="Footer Placeholder 5">
            <a:extLst>
              <a:ext uri="{FF2B5EF4-FFF2-40B4-BE49-F238E27FC236}">
                <a16:creationId xmlns:a16="http://schemas.microsoft.com/office/drawing/2014/main" id="{35F4EFFD-2D38-43CD-BC22-8B6D4022F2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FF9672-F72F-48A9-B5C5-04B9D2B8CA57}"/>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3598853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9E1EE-17E9-47DD-B916-B630F25FB6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420C35-DE2B-452D-A23F-7AA31732E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EFDC00-5F4C-4A3F-9C15-D5DCCA0F5C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C14B3A0-BDA3-4B37-B273-64C2E704BCA7}"/>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6" name="Footer Placeholder 5">
            <a:extLst>
              <a:ext uri="{FF2B5EF4-FFF2-40B4-BE49-F238E27FC236}">
                <a16:creationId xmlns:a16="http://schemas.microsoft.com/office/drawing/2014/main" id="{C517F531-22E7-44D0-BE9B-BC5E5613FC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45320C-4963-47E1-ABDF-925639459FC7}"/>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2665801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98D3-910A-452D-A20A-24D46B9DA1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5560B3-A33A-4429-91F7-EE0C8262CC4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E959EA-5CB1-4E91-8CAF-DE968EFEC10C}"/>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5" name="Footer Placeholder 4">
            <a:extLst>
              <a:ext uri="{FF2B5EF4-FFF2-40B4-BE49-F238E27FC236}">
                <a16:creationId xmlns:a16="http://schemas.microsoft.com/office/drawing/2014/main" id="{F5E1961B-CC74-424C-856A-3F2D22A2FB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4BD8E6-F0AA-4F12-9AA5-A7AEFE02A984}"/>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556980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FBF610-3513-4788-838A-F88A4C22A7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9A373F-DB22-4EF7-A2A6-C2ADE58439A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2E0C3F-0A21-4D6F-B3CF-BBB9A057ADBE}"/>
              </a:ext>
            </a:extLst>
          </p:cNvPr>
          <p:cNvSpPr>
            <a:spLocks noGrp="1"/>
          </p:cNvSpPr>
          <p:nvPr>
            <p:ph type="dt" sz="half" idx="10"/>
          </p:nvPr>
        </p:nvSpPr>
        <p:spPr/>
        <p:txBody>
          <a:bodyPr/>
          <a:lstStyle/>
          <a:p>
            <a:fld id="{AE613696-A3DB-4C16-B112-E2EF1F4983A6}" type="datetimeFigureOut">
              <a:rPr lang="en-IN" smtClean="0"/>
              <a:t>09-02-2026</a:t>
            </a:fld>
            <a:endParaRPr lang="en-IN"/>
          </a:p>
        </p:txBody>
      </p:sp>
      <p:sp>
        <p:nvSpPr>
          <p:cNvPr id="5" name="Footer Placeholder 4">
            <a:extLst>
              <a:ext uri="{FF2B5EF4-FFF2-40B4-BE49-F238E27FC236}">
                <a16:creationId xmlns:a16="http://schemas.microsoft.com/office/drawing/2014/main" id="{42BD0E08-1FE6-4650-BE72-CF3177B586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049DC-1404-4D22-AA27-D7F4D847AB3C}"/>
              </a:ext>
            </a:extLst>
          </p:cNvPr>
          <p:cNvSpPr>
            <a:spLocks noGrp="1"/>
          </p:cNvSpPr>
          <p:nvPr>
            <p:ph type="sldNum" sz="quarter" idx="12"/>
          </p:nvPr>
        </p:nvSpPr>
        <p:spPr/>
        <p:txBody>
          <a:bodyPr/>
          <a:lstStyle/>
          <a:p>
            <a:fld id="{C2DD2550-4E59-4A65-ACAA-C9E94422C1D9}" type="slidenum">
              <a:rPr lang="en-IN" smtClean="0"/>
              <a:t>‹#›</a:t>
            </a:fld>
            <a:endParaRPr lang="en-IN"/>
          </a:p>
        </p:txBody>
      </p:sp>
    </p:spTree>
    <p:extLst>
      <p:ext uri="{BB962C8B-B14F-4D97-AF65-F5344CB8AC3E}">
        <p14:creationId xmlns:p14="http://schemas.microsoft.com/office/powerpoint/2010/main" val="3582233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11E4D8-597E-4D4E-8D58-D03A17D87C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E67664-6745-412B-87E4-5DA799E33F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CD0F18-58C9-478E-8635-792045BE16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13696-A3DB-4C16-B112-E2EF1F4983A6}" type="datetimeFigureOut">
              <a:rPr lang="en-IN" smtClean="0"/>
              <a:t>09-02-2026</a:t>
            </a:fld>
            <a:endParaRPr lang="en-IN"/>
          </a:p>
        </p:txBody>
      </p:sp>
      <p:sp>
        <p:nvSpPr>
          <p:cNvPr id="5" name="Footer Placeholder 4">
            <a:extLst>
              <a:ext uri="{FF2B5EF4-FFF2-40B4-BE49-F238E27FC236}">
                <a16:creationId xmlns:a16="http://schemas.microsoft.com/office/drawing/2014/main" id="{E338A612-AE6A-4425-AA56-CE50D1E992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DAFED9-80CF-4DE7-9AD2-CA6EC1CBC1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DD2550-4E59-4A65-ACAA-C9E94422C1D9}" type="slidenum">
              <a:rPr lang="en-IN" smtClean="0"/>
              <a:t>‹#›</a:t>
            </a:fld>
            <a:endParaRPr lang="en-IN"/>
          </a:p>
        </p:txBody>
      </p:sp>
    </p:spTree>
    <p:extLst>
      <p:ext uri="{BB962C8B-B14F-4D97-AF65-F5344CB8AC3E}">
        <p14:creationId xmlns:p14="http://schemas.microsoft.com/office/powerpoint/2010/main" val="2810228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6E67-0435-4810-B2CC-6708C4EBA288}"/>
              </a:ext>
            </a:extLst>
          </p:cNvPr>
          <p:cNvSpPr>
            <a:spLocks noGrp="1"/>
          </p:cNvSpPr>
          <p:nvPr>
            <p:ph type="ctrTitle"/>
          </p:nvPr>
        </p:nvSpPr>
        <p:spPr>
          <a:xfrm>
            <a:off x="1524000" y="262685"/>
            <a:ext cx="9144000" cy="983409"/>
          </a:xfrm>
        </p:spPr>
        <p:txBody>
          <a:bodyPr>
            <a:normAutofit/>
          </a:bodyPr>
          <a:lstStyle/>
          <a:p>
            <a:r>
              <a:rPr lang="en-IN" sz="3600" b="1" dirty="0"/>
              <a:t>DevOps Engineer Technical Assessment</a:t>
            </a:r>
            <a:endParaRPr lang="en-IN" sz="3600" dirty="0"/>
          </a:p>
        </p:txBody>
      </p:sp>
      <p:sp>
        <p:nvSpPr>
          <p:cNvPr id="3" name="Subtitle 2">
            <a:extLst>
              <a:ext uri="{FF2B5EF4-FFF2-40B4-BE49-F238E27FC236}">
                <a16:creationId xmlns:a16="http://schemas.microsoft.com/office/drawing/2014/main" id="{863AACDE-73F1-4201-9025-FA3A2B16B279}"/>
              </a:ext>
            </a:extLst>
          </p:cNvPr>
          <p:cNvSpPr>
            <a:spLocks noGrp="1"/>
          </p:cNvSpPr>
          <p:nvPr>
            <p:ph type="subTitle" idx="1"/>
          </p:nvPr>
        </p:nvSpPr>
        <p:spPr>
          <a:xfrm>
            <a:off x="699247" y="2106706"/>
            <a:ext cx="10228729" cy="3397623"/>
          </a:xfrm>
        </p:spPr>
        <p:txBody>
          <a:bodyPr>
            <a:normAutofit/>
          </a:bodyPr>
          <a:lstStyle/>
          <a:p>
            <a:r>
              <a:rPr lang="en-US" b="1" dirty="0"/>
              <a:t>Objective</a:t>
            </a:r>
            <a:endParaRPr lang="en-US" dirty="0"/>
          </a:p>
          <a:p>
            <a:pPr algn="l"/>
            <a:r>
              <a:rPr lang="en-US" sz="1800" dirty="0"/>
              <a:t>The objective was to deploy simple web application securely "Hello World" on AWS using VPC, private EC2 instances with Nginx as service, and Application Load Balancer(ALB). Everything done with best practices with no direct internet access to your servers Using AWS console.</a:t>
            </a:r>
          </a:p>
          <a:p>
            <a:pPr algn="l"/>
            <a:endParaRPr lang="en-US" sz="1800" b="0" dirty="0">
              <a:effectLst/>
            </a:endParaRPr>
          </a:p>
          <a:p>
            <a:pPr algn="l"/>
            <a:br>
              <a:rPr lang="en-US" dirty="0"/>
            </a:br>
            <a:endParaRPr lang="en-IN" dirty="0"/>
          </a:p>
        </p:txBody>
      </p:sp>
    </p:spTree>
    <p:extLst>
      <p:ext uri="{BB962C8B-B14F-4D97-AF65-F5344CB8AC3E}">
        <p14:creationId xmlns:p14="http://schemas.microsoft.com/office/powerpoint/2010/main" val="3453226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5068C-BD4E-4972-8209-25EE7AEC6A3D}"/>
              </a:ext>
            </a:extLst>
          </p:cNvPr>
          <p:cNvSpPr>
            <a:spLocks noGrp="1"/>
          </p:cNvSpPr>
          <p:nvPr>
            <p:ph type="title"/>
          </p:nvPr>
        </p:nvSpPr>
        <p:spPr/>
        <p:txBody>
          <a:bodyPr/>
          <a:lstStyle/>
          <a:p>
            <a:pPr algn="ctr"/>
            <a:r>
              <a:rPr lang="en-IN" b="1" dirty="0"/>
              <a:t>Architecture Diagram</a:t>
            </a:r>
            <a:br>
              <a:rPr lang="en-IN" b="1" dirty="0"/>
            </a:br>
            <a:endParaRPr lang="en-IN" dirty="0"/>
          </a:p>
        </p:txBody>
      </p:sp>
      <p:sp>
        <p:nvSpPr>
          <p:cNvPr id="12" name="Rectangle 1">
            <a:extLst>
              <a:ext uri="{FF2B5EF4-FFF2-40B4-BE49-F238E27FC236}">
                <a16:creationId xmlns:a16="http://schemas.microsoft.com/office/drawing/2014/main" id="{BA2F4099-8BE9-430D-B61D-40075FD06CF4}"/>
              </a:ext>
            </a:extLst>
          </p:cNvPr>
          <p:cNvSpPr>
            <a:spLocks noGrp="1" noChangeArrowheads="1"/>
          </p:cNvSpPr>
          <p:nvPr>
            <p:ph idx="1"/>
          </p:nvPr>
        </p:nvSpPr>
        <p:spPr bwMode="auto">
          <a:xfrm>
            <a:off x="1169893" y="1204327"/>
            <a:ext cx="9489141"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Traffic flow</a:t>
            </a: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     Internet → ALB → EC2 (Private)</a:t>
            </a: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VPC (10.0.0.0/16)</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Public Subnets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Public Subnet 1 (AZ-a) – 10.0.1.0/24</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Public Subnet 2 (AZ-b) – 10.0.2.0/24</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Application Load Balancer</a:t>
            </a:r>
          </a:p>
          <a:p>
            <a:pPr marL="0" marR="0" lvl="0" indent="0"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 Private Subnets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Private Subnet 1 (AZ-a) – 10.0.3.0/24 → EC2 + Nginx</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Private Subnet 2 (AZ-b) – 10.0.4.0/24 → EC2 + Nginx</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0975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6CB0-D286-44A6-9049-BC11964022A0}"/>
              </a:ext>
            </a:extLst>
          </p:cNvPr>
          <p:cNvSpPr>
            <a:spLocks noGrp="1"/>
          </p:cNvSpPr>
          <p:nvPr>
            <p:ph type="ctrTitle"/>
          </p:nvPr>
        </p:nvSpPr>
        <p:spPr>
          <a:xfrm>
            <a:off x="1461247" y="406400"/>
            <a:ext cx="9144000" cy="669365"/>
          </a:xfrm>
        </p:spPr>
        <p:txBody>
          <a:bodyPr>
            <a:normAutofit/>
          </a:bodyPr>
          <a:lstStyle/>
          <a:p>
            <a:r>
              <a:rPr lang="en-IN" sz="3600" dirty="0"/>
              <a:t>Working Application</a:t>
            </a:r>
          </a:p>
        </p:txBody>
      </p:sp>
      <p:sp>
        <p:nvSpPr>
          <p:cNvPr id="3" name="Subtitle 2">
            <a:extLst>
              <a:ext uri="{FF2B5EF4-FFF2-40B4-BE49-F238E27FC236}">
                <a16:creationId xmlns:a16="http://schemas.microsoft.com/office/drawing/2014/main" id="{4F414AE7-330B-48C4-B52E-BA0B5AC646EC}"/>
              </a:ext>
            </a:extLst>
          </p:cNvPr>
          <p:cNvSpPr>
            <a:spLocks noGrp="1"/>
          </p:cNvSpPr>
          <p:nvPr>
            <p:ph type="subTitle" idx="1"/>
          </p:nvPr>
        </p:nvSpPr>
        <p:spPr>
          <a:xfrm>
            <a:off x="1452282" y="5504329"/>
            <a:ext cx="9144000" cy="869577"/>
          </a:xfrm>
        </p:spPr>
        <p:txBody>
          <a:bodyPr/>
          <a:lstStyle/>
          <a:p>
            <a:r>
              <a:rPr lang="en-IN" sz="1800" dirty="0"/>
              <a:t>As</a:t>
            </a:r>
            <a:r>
              <a:rPr lang="en-IN" dirty="0"/>
              <a:t> working of </a:t>
            </a:r>
            <a:r>
              <a:rPr lang="en-IN" dirty="0" err="1"/>
              <a:t>loadbancer</a:t>
            </a:r>
            <a:r>
              <a:rPr lang="en-IN" dirty="0"/>
              <a:t> URL, it showing 502 Bad Gateway means </a:t>
            </a:r>
            <a:r>
              <a:rPr lang="en-IN" dirty="0" err="1"/>
              <a:t>alb</a:t>
            </a:r>
            <a:r>
              <a:rPr lang="en-IN" dirty="0"/>
              <a:t> is not getting </a:t>
            </a:r>
            <a:r>
              <a:rPr lang="en-IN" dirty="0" err="1"/>
              <a:t>nginx</a:t>
            </a:r>
            <a:r>
              <a:rPr lang="en-IN" dirty="0"/>
              <a:t>. It will resolve soon</a:t>
            </a:r>
          </a:p>
        </p:txBody>
      </p:sp>
      <p:pic>
        <p:nvPicPr>
          <p:cNvPr id="5" name="Picture 4">
            <a:extLst>
              <a:ext uri="{FF2B5EF4-FFF2-40B4-BE49-F238E27FC236}">
                <a16:creationId xmlns:a16="http://schemas.microsoft.com/office/drawing/2014/main" id="{4BE5984D-B546-4C93-96B1-40C03FDD5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799" y="1075765"/>
            <a:ext cx="8650941" cy="3746810"/>
          </a:xfrm>
          <a:prstGeom prst="rect">
            <a:avLst/>
          </a:prstGeom>
        </p:spPr>
      </p:pic>
    </p:spTree>
    <p:extLst>
      <p:ext uri="{BB962C8B-B14F-4D97-AF65-F5344CB8AC3E}">
        <p14:creationId xmlns:p14="http://schemas.microsoft.com/office/powerpoint/2010/main" val="2034627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4922-0CB6-49A8-9889-4491F952E369}"/>
              </a:ext>
            </a:extLst>
          </p:cNvPr>
          <p:cNvSpPr>
            <a:spLocks noGrp="1"/>
          </p:cNvSpPr>
          <p:nvPr>
            <p:ph type="title"/>
          </p:nvPr>
        </p:nvSpPr>
        <p:spPr/>
        <p:txBody>
          <a:bodyPr/>
          <a:lstStyle/>
          <a:p>
            <a:pPr algn="ctr"/>
            <a:r>
              <a:rPr lang="en-IN" dirty="0"/>
              <a:t>Load balancer URL</a:t>
            </a:r>
          </a:p>
        </p:txBody>
      </p:sp>
      <p:pic>
        <p:nvPicPr>
          <p:cNvPr id="5" name="Picture 4">
            <a:extLst>
              <a:ext uri="{FF2B5EF4-FFF2-40B4-BE49-F238E27FC236}">
                <a16:creationId xmlns:a16="http://schemas.microsoft.com/office/drawing/2014/main" id="{004C2685-4128-49BF-9C73-B0F688E40B08}"/>
              </a:ext>
            </a:extLst>
          </p:cNvPr>
          <p:cNvPicPr>
            <a:picLocks noChangeAspect="1"/>
          </p:cNvPicPr>
          <p:nvPr/>
        </p:nvPicPr>
        <p:blipFill>
          <a:blip r:embed="rId2"/>
          <a:stretch>
            <a:fillRect/>
          </a:stretch>
        </p:blipFill>
        <p:spPr>
          <a:xfrm>
            <a:off x="412376" y="1432111"/>
            <a:ext cx="11134165" cy="5130054"/>
          </a:xfrm>
          <a:prstGeom prst="rect">
            <a:avLst/>
          </a:prstGeom>
        </p:spPr>
      </p:pic>
    </p:spTree>
    <p:extLst>
      <p:ext uri="{BB962C8B-B14F-4D97-AF65-F5344CB8AC3E}">
        <p14:creationId xmlns:p14="http://schemas.microsoft.com/office/powerpoint/2010/main" val="29283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A29CE-073C-4115-A822-EC808AE0A7BF}"/>
              </a:ext>
            </a:extLst>
          </p:cNvPr>
          <p:cNvSpPr>
            <a:spLocks noGrp="1"/>
          </p:cNvSpPr>
          <p:nvPr>
            <p:ph type="title"/>
          </p:nvPr>
        </p:nvSpPr>
        <p:spPr/>
        <p:txBody>
          <a:bodyPr/>
          <a:lstStyle/>
          <a:p>
            <a:pPr algn="ctr"/>
            <a:r>
              <a:rPr lang="en-US" sz="3600" dirty="0"/>
              <a:t>Step-by-step</a:t>
            </a:r>
            <a:r>
              <a:rPr lang="en-US" dirty="0"/>
              <a:t> guide to perform task</a:t>
            </a:r>
            <a:br>
              <a:rPr lang="en-US" dirty="0"/>
            </a:br>
            <a:endParaRPr lang="en-IN" dirty="0"/>
          </a:p>
        </p:txBody>
      </p:sp>
      <p:sp>
        <p:nvSpPr>
          <p:cNvPr id="3" name="Content Placeholder 2">
            <a:extLst>
              <a:ext uri="{FF2B5EF4-FFF2-40B4-BE49-F238E27FC236}">
                <a16:creationId xmlns:a16="http://schemas.microsoft.com/office/drawing/2014/main" id="{F6DF6963-014F-4CAB-BA7C-E210F0BE69B4}"/>
              </a:ext>
            </a:extLst>
          </p:cNvPr>
          <p:cNvSpPr>
            <a:spLocks noGrp="1"/>
          </p:cNvSpPr>
          <p:nvPr>
            <p:ph idx="1"/>
          </p:nvPr>
        </p:nvSpPr>
        <p:spPr>
          <a:xfrm>
            <a:off x="838200" y="1253331"/>
            <a:ext cx="10515600" cy="4351338"/>
          </a:xfrm>
        </p:spPr>
        <p:txBody>
          <a:bodyPr>
            <a:normAutofit/>
          </a:bodyPr>
          <a:lstStyle/>
          <a:p>
            <a:r>
              <a:rPr lang="en-IN" sz="1800" dirty="0"/>
              <a:t> I login to </a:t>
            </a:r>
            <a:r>
              <a:rPr lang="en-IN" sz="1800" dirty="0" err="1"/>
              <a:t>aws</a:t>
            </a:r>
            <a:r>
              <a:rPr lang="en-IN" sz="1800" dirty="0"/>
              <a:t> console with help of login credentials and went to VPC dashboard to create </a:t>
            </a:r>
            <a:r>
              <a:rPr lang="en-IN" sz="1800" dirty="0" err="1"/>
              <a:t>vpc</a:t>
            </a:r>
            <a:r>
              <a:rPr lang="en-IN" sz="1800" dirty="0"/>
              <a:t>, create VPC </a:t>
            </a:r>
            <a:r>
              <a:rPr lang="en-IN" sz="1800" dirty="0">
                <a:sym typeface="Wingdings" panose="05000000000000000000" pitchFamily="2" charset="2"/>
              </a:rPr>
              <a:t> </a:t>
            </a:r>
            <a:r>
              <a:rPr lang="en-IN" sz="1800" dirty="0"/>
              <a:t>Resources to create -</a:t>
            </a:r>
            <a:r>
              <a:rPr lang="en-IN" sz="1800" dirty="0">
                <a:sym typeface="Wingdings" panose="05000000000000000000" pitchFamily="2" charset="2"/>
              </a:rPr>
              <a:t> </a:t>
            </a:r>
            <a:r>
              <a:rPr lang="en-IN" sz="1800" dirty="0" err="1">
                <a:sym typeface="Wingdings" panose="05000000000000000000" pitchFamily="2" charset="2"/>
              </a:rPr>
              <a:t>Vpc</a:t>
            </a:r>
            <a:r>
              <a:rPr lang="en-IN" sz="1800" dirty="0">
                <a:sym typeface="Wingdings" panose="05000000000000000000" pitchFamily="2" charset="2"/>
              </a:rPr>
              <a:t> only  give name – (Task-01) to identify easily.</a:t>
            </a:r>
            <a:r>
              <a:rPr lang="en-IN" sz="1800" b="1" dirty="0"/>
              <a:t> </a:t>
            </a:r>
            <a:r>
              <a:rPr lang="en-IN" sz="1800" dirty="0"/>
              <a:t>Set IPv4 CIDR – 10.0.0.0/16 </a:t>
            </a:r>
            <a:r>
              <a:rPr lang="en-IN" sz="1800" dirty="0">
                <a:sym typeface="Wingdings" panose="05000000000000000000" pitchFamily="2" charset="2"/>
              </a:rPr>
              <a:t> create </a:t>
            </a:r>
            <a:r>
              <a:rPr lang="en-IN" sz="1800" dirty="0" err="1">
                <a:sym typeface="Wingdings" panose="05000000000000000000" pitchFamily="2" charset="2"/>
              </a:rPr>
              <a:t>vpc</a:t>
            </a:r>
            <a:r>
              <a:rPr lang="en-IN" sz="1800" dirty="0">
                <a:sym typeface="Wingdings" panose="05000000000000000000" pitchFamily="2" charset="2"/>
              </a:rPr>
              <a:t> and </a:t>
            </a:r>
            <a:r>
              <a:rPr lang="en-IN" sz="1800" dirty="0" err="1">
                <a:sym typeface="Wingdings" panose="05000000000000000000" pitchFamily="2" charset="2"/>
              </a:rPr>
              <a:t>vpc</a:t>
            </a:r>
            <a:r>
              <a:rPr lang="en-IN" sz="1800" dirty="0">
                <a:sym typeface="Wingdings" panose="05000000000000000000" pitchFamily="2" charset="2"/>
              </a:rPr>
              <a:t> created.</a:t>
            </a:r>
          </a:p>
          <a:p>
            <a:r>
              <a:rPr lang="en-IN" sz="1800" dirty="0">
                <a:sym typeface="Wingdings" panose="05000000000000000000" pitchFamily="2" charset="2"/>
              </a:rPr>
              <a:t>Now create 2 public and 2 private subnet such that 1 public &amp; 1 private in same availability zone and another 2 in different availability zone.</a:t>
            </a:r>
          </a:p>
          <a:p>
            <a:pPr marL="0" indent="0">
              <a:buNone/>
            </a:pPr>
            <a:r>
              <a:rPr lang="en-IN" sz="1800" dirty="0">
                <a:sym typeface="Wingdings" panose="05000000000000000000" pitchFamily="2" charset="2"/>
              </a:rPr>
              <a:t>Create subnet  select </a:t>
            </a:r>
            <a:r>
              <a:rPr lang="en-IN" sz="1800" dirty="0" err="1">
                <a:sym typeface="Wingdings" panose="05000000000000000000" pitchFamily="2" charset="2"/>
              </a:rPr>
              <a:t>Vpc</a:t>
            </a:r>
            <a:r>
              <a:rPr lang="en-IN" sz="1800" dirty="0">
                <a:sym typeface="Wingdings" panose="05000000000000000000" pitchFamily="2" charset="2"/>
              </a:rPr>
              <a:t> Id (to </a:t>
            </a:r>
            <a:r>
              <a:rPr lang="en-US" sz="1800" dirty="0"/>
              <a:t>Create subnets in this VPC that created) </a:t>
            </a:r>
            <a:r>
              <a:rPr lang="en-US" sz="1800" dirty="0">
                <a:sym typeface="Wingdings" panose="05000000000000000000" pitchFamily="2" charset="2"/>
              </a:rPr>
              <a:t> give name as public-01  select availability zone to</a:t>
            </a:r>
            <a:r>
              <a:rPr lang="en-US" sz="1800" dirty="0"/>
              <a:t> where this subnet will reside (ap-southeast-2a) </a:t>
            </a:r>
            <a:r>
              <a:rPr lang="en-US" sz="1800" dirty="0">
                <a:sym typeface="Wingdings" panose="05000000000000000000" pitchFamily="2" charset="2"/>
              </a:rPr>
              <a:t> </a:t>
            </a:r>
            <a:r>
              <a:rPr lang="en-IN" sz="1800" dirty="0"/>
              <a:t>IPv4 subnet CIDR block – 10.0.1.0/24 then go to create subnet ,subnet is created.</a:t>
            </a:r>
          </a:p>
          <a:p>
            <a:pPr marL="0" indent="0">
              <a:buNone/>
            </a:pPr>
            <a:r>
              <a:rPr lang="en-IN" sz="1800" dirty="0"/>
              <a:t>Follow the same procedure for creating subnet for,</a:t>
            </a:r>
          </a:p>
          <a:p>
            <a:pPr marL="0" indent="0">
              <a:buNone/>
            </a:pPr>
            <a:r>
              <a:rPr lang="en-IN" sz="1800" dirty="0"/>
              <a:t>Public-02—(ap-southeast-2b ) –(10.0.2.0/24)</a:t>
            </a:r>
          </a:p>
          <a:p>
            <a:pPr marL="0" indent="0">
              <a:buNone/>
            </a:pPr>
            <a:r>
              <a:rPr lang="en-IN" sz="1800" dirty="0"/>
              <a:t>Private-01—(</a:t>
            </a:r>
            <a:r>
              <a:rPr lang="en-US" sz="1800" dirty="0"/>
              <a:t>ap-southeast-2a</a:t>
            </a:r>
            <a:r>
              <a:rPr lang="en-IN" sz="1800" dirty="0"/>
              <a:t>) –(10.0.3.0/24)</a:t>
            </a:r>
          </a:p>
          <a:p>
            <a:pPr marL="0" indent="0">
              <a:buNone/>
            </a:pPr>
            <a:r>
              <a:rPr lang="en-IN" sz="1800" dirty="0"/>
              <a:t>Private-02 –(</a:t>
            </a:r>
            <a:r>
              <a:rPr lang="en-US" sz="1800" dirty="0"/>
              <a:t>ap-southeast-2a</a:t>
            </a:r>
            <a:r>
              <a:rPr lang="en-IN" sz="1800" dirty="0"/>
              <a:t>) –(10.0.4.0/24)</a:t>
            </a:r>
          </a:p>
          <a:p>
            <a:pPr marL="0" indent="0">
              <a:buNone/>
            </a:pPr>
            <a:endParaRPr lang="en-IN" dirty="0"/>
          </a:p>
        </p:txBody>
      </p:sp>
    </p:spTree>
    <p:extLst>
      <p:ext uri="{BB962C8B-B14F-4D97-AF65-F5344CB8AC3E}">
        <p14:creationId xmlns:p14="http://schemas.microsoft.com/office/powerpoint/2010/main" val="1960141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EC040F-68EF-491E-BBFE-0D945E2C6F4A}"/>
              </a:ext>
            </a:extLst>
          </p:cNvPr>
          <p:cNvSpPr>
            <a:spLocks noGrp="1"/>
          </p:cNvSpPr>
          <p:nvPr>
            <p:ph idx="1"/>
          </p:nvPr>
        </p:nvSpPr>
        <p:spPr>
          <a:xfrm>
            <a:off x="838200" y="555812"/>
            <a:ext cx="10515600" cy="5621151"/>
          </a:xfrm>
        </p:spPr>
        <p:txBody>
          <a:bodyPr>
            <a:normAutofit/>
          </a:bodyPr>
          <a:lstStyle/>
          <a:p>
            <a:r>
              <a:rPr lang="en-IN" sz="1800" dirty="0"/>
              <a:t>Now create internet gateway to </a:t>
            </a:r>
            <a:r>
              <a:rPr lang="en-US" sz="1800" dirty="0"/>
              <a:t>enables communication between VPC and the internet. Create </a:t>
            </a:r>
            <a:r>
              <a:rPr lang="en-IN" sz="1800" dirty="0"/>
              <a:t>internet gateway </a:t>
            </a:r>
            <a:r>
              <a:rPr lang="en-IN" sz="1800" dirty="0">
                <a:sym typeface="Wingdings" panose="05000000000000000000" pitchFamily="2" charset="2"/>
              </a:rPr>
              <a:t> name for gateway – (gateway-task)  </a:t>
            </a:r>
            <a:r>
              <a:rPr lang="en-US" sz="1800" dirty="0"/>
              <a:t>Create </a:t>
            </a:r>
            <a:r>
              <a:rPr lang="en-IN" sz="1800" dirty="0"/>
              <a:t>internet gateway. Now select the gateway and go to action and attach to the </a:t>
            </a:r>
            <a:r>
              <a:rPr lang="en-IN" sz="1800" dirty="0" err="1"/>
              <a:t>vpc</a:t>
            </a:r>
            <a:r>
              <a:rPr lang="en-IN" sz="1800" dirty="0"/>
              <a:t> for communication.</a:t>
            </a:r>
          </a:p>
          <a:p>
            <a:r>
              <a:rPr lang="en-IN" sz="1800" dirty="0"/>
              <a:t>Create route table </a:t>
            </a:r>
            <a:r>
              <a:rPr lang="en-US" sz="1800" dirty="0"/>
              <a:t>to determine where network traffic from your subnet or gateway is directed. </a:t>
            </a:r>
          </a:p>
          <a:p>
            <a:pPr marL="0" indent="0">
              <a:buNone/>
            </a:pPr>
            <a:r>
              <a:rPr lang="en-US" sz="1800" dirty="0"/>
              <a:t>Go to create route table </a:t>
            </a:r>
            <a:r>
              <a:rPr lang="en-US" sz="1800" dirty="0">
                <a:sym typeface="Wingdings" panose="05000000000000000000" pitchFamily="2" charset="2"/>
              </a:rPr>
              <a:t> give name (rt-public)  select the </a:t>
            </a:r>
            <a:r>
              <a:rPr lang="en-US" sz="1800" dirty="0" err="1">
                <a:sym typeface="Wingdings" panose="05000000000000000000" pitchFamily="2" charset="2"/>
              </a:rPr>
              <a:t>vpc</a:t>
            </a:r>
            <a:r>
              <a:rPr lang="en-US" sz="1800" dirty="0">
                <a:sym typeface="Wingdings" panose="05000000000000000000" pitchFamily="2" charset="2"/>
              </a:rPr>
              <a:t> to connect</a:t>
            </a:r>
            <a:r>
              <a:rPr lang="en-US" sz="1800" dirty="0"/>
              <a:t> for this route table </a:t>
            </a:r>
            <a:r>
              <a:rPr lang="en-US" sz="1800" dirty="0">
                <a:sym typeface="Wingdings" panose="05000000000000000000" pitchFamily="2" charset="2"/>
              </a:rPr>
              <a:t> </a:t>
            </a:r>
            <a:r>
              <a:rPr lang="en-US" sz="1800" dirty="0"/>
              <a:t>create route table </a:t>
            </a:r>
            <a:r>
              <a:rPr lang="en-US" sz="1800" dirty="0">
                <a:sym typeface="Wingdings" panose="05000000000000000000" pitchFamily="2" charset="2"/>
              </a:rPr>
              <a:t> select public1 subnet go to  Actions to edit subnet association  select subnet save association. And save it.</a:t>
            </a:r>
          </a:p>
          <a:p>
            <a:pPr marL="0" indent="0">
              <a:buNone/>
            </a:pPr>
            <a:r>
              <a:rPr lang="en-US" sz="1800" dirty="0">
                <a:sym typeface="Wingdings" panose="05000000000000000000" pitchFamily="2" charset="2"/>
              </a:rPr>
              <a:t>Now in route table  go routes  edit route  select destination (0.0.0.0/0)  target (internet gateway)  select gateway Id  save changes.</a:t>
            </a:r>
          </a:p>
          <a:p>
            <a:r>
              <a:rPr lang="en-US" sz="1800" dirty="0"/>
              <a:t>Do same for rt-private.</a:t>
            </a:r>
          </a:p>
          <a:p>
            <a:pPr marL="0" indent="0">
              <a:buNone/>
            </a:pPr>
            <a:endParaRPr lang="en-US" sz="2400" dirty="0"/>
          </a:p>
          <a:p>
            <a:pPr marL="0" indent="0">
              <a:buNone/>
            </a:pPr>
            <a:endParaRPr lang="en-IN" dirty="0"/>
          </a:p>
          <a:p>
            <a:endParaRPr lang="en-IN" dirty="0"/>
          </a:p>
        </p:txBody>
      </p:sp>
    </p:spTree>
    <p:extLst>
      <p:ext uri="{BB962C8B-B14F-4D97-AF65-F5344CB8AC3E}">
        <p14:creationId xmlns:p14="http://schemas.microsoft.com/office/powerpoint/2010/main" val="1006915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CC03AF-2359-481B-96CD-955F7BFDB36C}"/>
              </a:ext>
            </a:extLst>
          </p:cNvPr>
          <p:cNvSpPr>
            <a:spLocks noGrp="1"/>
          </p:cNvSpPr>
          <p:nvPr>
            <p:ph idx="1"/>
          </p:nvPr>
        </p:nvSpPr>
        <p:spPr>
          <a:xfrm>
            <a:off x="838200" y="188259"/>
            <a:ext cx="10515600" cy="5988704"/>
          </a:xfrm>
        </p:spPr>
        <p:txBody>
          <a:bodyPr/>
          <a:lstStyle/>
          <a:p>
            <a:r>
              <a:rPr lang="en-IN" sz="1800" dirty="0"/>
              <a:t>Now create security groups to </a:t>
            </a:r>
            <a:r>
              <a:rPr lang="en-US" sz="1800" dirty="0"/>
              <a:t>act as a virtual firewall that controls the traffic for one or more instances.</a:t>
            </a:r>
          </a:p>
          <a:p>
            <a:pPr marL="0" indent="0">
              <a:buNone/>
            </a:pPr>
            <a:endParaRPr lang="en-US" sz="1800" dirty="0"/>
          </a:p>
          <a:p>
            <a:pPr marL="0" indent="0">
              <a:buNone/>
            </a:pPr>
            <a:endParaRPr lang="en-US" sz="1800" dirty="0"/>
          </a:p>
          <a:p>
            <a:pPr marL="0" indent="0">
              <a:buNone/>
            </a:pPr>
            <a:endParaRPr lang="en-IN" dirty="0"/>
          </a:p>
          <a:p>
            <a:pPr marL="0" indent="0">
              <a:buNone/>
            </a:pPr>
            <a:endParaRPr lang="en-IN" dirty="0"/>
          </a:p>
        </p:txBody>
      </p:sp>
      <p:graphicFrame>
        <p:nvGraphicFramePr>
          <p:cNvPr id="6" name="Table 5">
            <a:extLst>
              <a:ext uri="{FF2B5EF4-FFF2-40B4-BE49-F238E27FC236}">
                <a16:creationId xmlns:a16="http://schemas.microsoft.com/office/drawing/2014/main" id="{0205BE07-95F1-4367-9878-8329C2206AC9}"/>
              </a:ext>
            </a:extLst>
          </p:cNvPr>
          <p:cNvGraphicFramePr>
            <a:graphicFrameLocks noGrp="1"/>
          </p:cNvGraphicFramePr>
          <p:nvPr>
            <p:extLst>
              <p:ext uri="{D42A27DB-BD31-4B8C-83A1-F6EECF244321}">
                <p14:modId xmlns:p14="http://schemas.microsoft.com/office/powerpoint/2010/main" val="2215430404"/>
              </p:ext>
            </p:extLst>
          </p:nvPr>
        </p:nvGraphicFramePr>
        <p:xfrm>
          <a:off x="1147481" y="1749911"/>
          <a:ext cx="9681882" cy="1773218"/>
        </p:xfrm>
        <a:graphic>
          <a:graphicData uri="http://schemas.openxmlformats.org/drawingml/2006/table">
            <a:tbl>
              <a:tblPr/>
              <a:tblGrid>
                <a:gridCol w="3198405">
                  <a:extLst>
                    <a:ext uri="{9D8B030D-6E8A-4147-A177-3AD203B41FA5}">
                      <a16:colId xmlns:a16="http://schemas.microsoft.com/office/drawing/2014/main" val="1814015148"/>
                    </a:ext>
                  </a:extLst>
                </a:gridCol>
                <a:gridCol w="3256183">
                  <a:extLst>
                    <a:ext uri="{9D8B030D-6E8A-4147-A177-3AD203B41FA5}">
                      <a16:colId xmlns:a16="http://schemas.microsoft.com/office/drawing/2014/main" val="724288904"/>
                    </a:ext>
                  </a:extLst>
                </a:gridCol>
                <a:gridCol w="3227294">
                  <a:extLst>
                    <a:ext uri="{9D8B030D-6E8A-4147-A177-3AD203B41FA5}">
                      <a16:colId xmlns:a16="http://schemas.microsoft.com/office/drawing/2014/main" val="2650360622"/>
                    </a:ext>
                  </a:extLst>
                </a:gridCol>
              </a:tblGrid>
              <a:tr h="706418">
                <a:tc>
                  <a:txBody>
                    <a:bodyPr/>
                    <a:lstStyle/>
                    <a:p>
                      <a:pPr algn="l"/>
                      <a:r>
                        <a:rPr lang="en-IN">
                          <a:effectLst/>
                        </a:rPr>
                        <a:t>SG Name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IN" dirty="0">
                          <a:effectLst/>
                        </a:rPr>
                        <a:t>Inbound Rules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IN" dirty="0">
                          <a:effectLst/>
                        </a:rPr>
                        <a:t>Purpose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008772402"/>
                  </a:ext>
                </a:extLst>
              </a:tr>
              <a:tr h="0">
                <a:tc>
                  <a:txBody>
                    <a:bodyPr/>
                    <a:lstStyle/>
                    <a:p>
                      <a:pPr algn="l"/>
                      <a:r>
                        <a:rPr lang="en-IN" sz="1800" b="0" i="0" kern="1200" dirty="0" err="1">
                          <a:solidFill>
                            <a:schemeClr val="tx1"/>
                          </a:solidFill>
                          <a:effectLst/>
                          <a:latin typeface="+mn-lt"/>
                          <a:ea typeface="+mn-ea"/>
                          <a:cs typeface="+mn-cs"/>
                        </a:rPr>
                        <a:t>loaderbalnce</a:t>
                      </a:r>
                      <a:r>
                        <a:rPr lang="en-IN" sz="1800" b="0" i="0" kern="1200" dirty="0">
                          <a:solidFill>
                            <a:schemeClr val="tx1"/>
                          </a:solidFill>
                          <a:effectLst/>
                          <a:latin typeface="+mn-lt"/>
                          <a:ea typeface="+mn-ea"/>
                          <a:cs typeface="+mn-cs"/>
                        </a:rPr>
                        <a:t>-sg</a:t>
                      </a:r>
                      <a:endParaRPr lang="en-IN" dirty="0">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HTTP 80 from 0.0.0.0/0</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a:effectLst/>
                        </a:rPr>
                        <a:t>ALB (internet-facing)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2132071"/>
                  </a:ext>
                </a:extLst>
              </a:tr>
              <a:tr h="0">
                <a:tc>
                  <a:txBody>
                    <a:bodyPr/>
                    <a:lstStyle/>
                    <a:p>
                      <a:pPr algn="l"/>
                      <a:r>
                        <a:rPr lang="en-IN">
                          <a:effectLst/>
                        </a:rPr>
                        <a:t>ec2-sg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HTTP 80 from </a:t>
                      </a:r>
                      <a:r>
                        <a:rPr lang="en-IN" sz="1800" b="0" i="0" kern="1200" dirty="0" err="1">
                          <a:solidFill>
                            <a:schemeClr val="tx1"/>
                          </a:solidFill>
                          <a:effectLst/>
                          <a:latin typeface="+mn-lt"/>
                          <a:ea typeface="+mn-ea"/>
                          <a:cs typeface="+mn-cs"/>
                        </a:rPr>
                        <a:t>loaderbalnce</a:t>
                      </a:r>
                      <a:r>
                        <a:rPr lang="en-IN" sz="1800" b="0" i="0" kern="1200" dirty="0">
                          <a:solidFill>
                            <a:schemeClr val="tx1"/>
                          </a:solidFill>
                          <a:effectLst/>
                          <a:latin typeface="+mn-lt"/>
                          <a:ea typeface="+mn-ea"/>
                          <a:cs typeface="+mn-cs"/>
                        </a:rPr>
                        <a:t>-sg</a:t>
                      </a:r>
                      <a:endParaRPr lang="en-IN" dirty="0">
                        <a:effectLst/>
                      </a:endParaRPr>
                    </a:p>
                    <a:p>
                      <a:pPr algn="l"/>
                      <a:r>
                        <a:rPr lang="en-US" dirty="0">
                          <a:effectLst/>
                        </a:rPr>
                        <a:t> only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EC2 (ALB → EC2 only)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79113906"/>
                  </a:ext>
                </a:extLst>
              </a:tr>
            </a:tbl>
          </a:graphicData>
        </a:graphic>
      </p:graphicFrame>
    </p:spTree>
    <p:extLst>
      <p:ext uri="{BB962C8B-B14F-4D97-AF65-F5344CB8AC3E}">
        <p14:creationId xmlns:p14="http://schemas.microsoft.com/office/powerpoint/2010/main" val="1254606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9E4E341-F412-4157-A08F-702F5EC587AC}"/>
              </a:ext>
            </a:extLst>
          </p:cNvPr>
          <p:cNvSpPr>
            <a:spLocks noGrp="1" noChangeArrowheads="1"/>
          </p:cNvSpPr>
          <p:nvPr>
            <p:ph type="subTitle" idx="1"/>
          </p:nvPr>
        </p:nvSpPr>
        <p:spPr bwMode="auto">
          <a:xfrm>
            <a:off x="932329" y="452899"/>
            <a:ext cx="106680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Launch EC2 Instances (Private Subnets)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6">
            <a:extLst>
              <a:ext uri="{FF2B5EF4-FFF2-40B4-BE49-F238E27FC236}">
                <a16:creationId xmlns:a16="http://schemas.microsoft.com/office/drawing/2014/main" id="{C31267F0-F374-442A-A5A7-4F81566ED1B4}"/>
              </a:ext>
            </a:extLst>
          </p:cNvPr>
          <p:cNvSpPr/>
          <p:nvPr/>
        </p:nvSpPr>
        <p:spPr>
          <a:xfrm>
            <a:off x="1398493" y="1030942"/>
            <a:ext cx="10327341" cy="10618291"/>
          </a:xfrm>
          <a:prstGeom prst="rect">
            <a:avLst/>
          </a:prstGeom>
        </p:spPr>
        <p:txBody>
          <a:bodyPr wrap="square">
            <a:spAutoFit/>
          </a:bodyPr>
          <a:lstStyle/>
          <a:p>
            <a:pPr marL="285750" indent="-285750">
              <a:buFont typeface="Arial" panose="020B0604020202020204" pitchFamily="34" charset="0"/>
              <a:buChar char="•"/>
            </a:pPr>
            <a:r>
              <a:rPr lang="en-IN" dirty="0"/>
              <a:t>Now launch instance Give name (Private-01) select  AMI: Amazon Linux 2023</a:t>
            </a:r>
          </a:p>
          <a:p>
            <a:r>
              <a:rPr lang="en-IN" dirty="0"/>
              <a:t> </a:t>
            </a:r>
            <a:r>
              <a:rPr lang="en-IN" dirty="0">
                <a:sym typeface="Wingdings" panose="05000000000000000000" pitchFamily="2" charset="2"/>
              </a:rPr>
              <a:t>  </a:t>
            </a:r>
            <a:r>
              <a:rPr lang="en-IN" dirty="0"/>
              <a:t>Instance type: t2.micro </a:t>
            </a:r>
            <a:r>
              <a:rPr lang="en-IN" dirty="0">
                <a:sym typeface="Wingdings" panose="05000000000000000000" pitchFamily="2" charset="2"/>
              </a:rPr>
              <a:t> </a:t>
            </a:r>
            <a:r>
              <a:rPr lang="en-IN" dirty="0"/>
              <a:t>Network: VPC as created  (task-01) </a:t>
            </a:r>
            <a:r>
              <a:rPr lang="en-IN" dirty="0">
                <a:sym typeface="Wingdings" panose="05000000000000000000" pitchFamily="2" charset="2"/>
              </a:rPr>
              <a:t> </a:t>
            </a:r>
            <a:r>
              <a:rPr lang="en-IN" dirty="0"/>
              <a:t>Subnet: Private-01 </a:t>
            </a:r>
            <a:r>
              <a:rPr lang="en-IN" dirty="0">
                <a:sym typeface="Wingdings" panose="05000000000000000000" pitchFamily="2" charset="2"/>
              </a:rPr>
              <a:t></a:t>
            </a:r>
            <a:r>
              <a:rPr lang="en-IN" dirty="0"/>
              <a:t>Auto-assign public IP: Disabled </a:t>
            </a:r>
            <a:r>
              <a:rPr lang="en-IN" dirty="0">
                <a:sym typeface="Wingdings" panose="05000000000000000000" pitchFamily="2" charset="2"/>
              </a:rPr>
              <a:t></a:t>
            </a:r>
            <a:r>
              <a:rPr lang="en-IN" dirty="0"/>
              <a:t>Security group: ec2-sg </a:t>
            </a:r>
          </a:p>
          <a:p>
            <a:r>
              <a:rPr lang="en-IN" dirty="0"/>
              <a:t>Now add user data script to host desired page</a:t>
            </a:r>
          </a:p>
          <a:p>
            <a:r>
              <a:rPr lang="en-IN" dirty="0"/>
              <a:t>Below are the script,</a:t>
            </a:r>
          </a:p>
          <a:p>
            <a:r>
              <a:rPr lang="en-IN" dirty="0"/>
              <a:t>#!/bin/bash</a:t>
            </a:r>
          </a:p>
          <a:p>
            <a:r>
              <a:rPr lang="en-IN" dirty="0"/>
              <a:t>yum update -y</a:t>
            </a:r>
          </a:p>
          <a:p>
            <a:r>
              <a:rPr lang="en-IN" dirty="0"/>
              <a:t>yum install -y </a:t>
            </a:r>
            <a:r>
              <a:rPr lang="en-IN" dirty="0" err="1"/>
              <a:t>nginx</a:t>
            </a:r>
            <a:endParaRPr lang="en-IN" dirty="0"/>
          </a:p>
          <a:p>
            <a:endParaRPr lang="en-IN" dirty="0"/>
          </a:p>
          <a:p>
            <a:r>
              <a:rPr lang="en-IN" dirty="0"/>
              <a:t># Start and enable </a:t>
            </a:r>
            <a:r>
              <a:rPr lang="en-IN" dirty="0" err="1"/>
              <a:t>nginx</a:t>
            </a:r>
            <a:endParaRPr lang="en-IN" dirty="0"/>
          </a:p>
          <a:p>
            <a:r>
              <a:rPr lang="en-IN" dirty="0" err="1"/>
              <a:t>systemctl</a:t>
            </a:r>
            <a:r>
              <a:rPr lang="en-IN" dirty="0"/>
              <a:t> start </a:t>
            </a:r>
            <a:r>
              <a:rPr lang="en-IN" dirty="0" err="1"/>
              <a:t>nginx</a:t>
            </a:r>
            <a:endParaRPr lang="en-IN" dirty="0"/>
          </a:p>
          <a:p>
            <a:r>
              <a:rPr lang="en-IN" dirty="0" err="1"/>
              <a:t>systemctl</a:t>
            </a:r>
            <a:r>
              <a:rPr lang="en-IN" dirty="0"/>
              <a:t> enable </a:t>
            </a:r>
            <a:r>
              <a:rPr lang="en-IN" dirty="0" err="1"/>
              <a:t>nginx</a:t>
            </a:r>
            <a:endParaRPr lang="en-IN" dirty="0"/>
          </a:p>
          <a:p>
            <a:endParaRPr lang="en-IN" dirty="0"/>
          </a:p>
          <a:p>
            <a:r>
              <a:rPr lang="en-IN" dirty="0"/>
              <a:t># Get instance metadata</a:t>
            </a:r>
          </a:p>
          <a:p>
            <a:r>
              <a:rPr lang="en-IN" dirty="0"/>
              <a:t>INSTANCE_ID=$(curl -s http://169.254.169.254/latest/meta-data/instance-id)</a:t>
            </a:r>
          </a:p>
          <a:p>
            <a:r>
              <a:rPr lang="en-IN" dirty="0"/>
              <a:t>AZ=$(curl -s http://169.254.169.254/latest/meta-data/placement/availability-zone)</a:t>
            </a:r>
          </a:p>
          <a:p>
            <a:endParaRPr lang="en-IN" dirty="0"/>
          </a:p>
          <a:p>
            <a:r>
              <a:rPr lang="en-IN" dirty="0"/>
              <a:t># Create custom index.html</a:t>
            </a:r>
          </a:p>
          <a:p>
            <a:r>
              <a:rPr lang="en-IN" dirty="0"/>
              <a:t>cat &lt;&lt;EOF &gt; /</a:t>
            </a:r>
            <a:r>
              <a:rPr lang="en-IN" dirty="0" err="1"/>
              <a:t>usr</a:t>
            </a:r>
            <a:r>
              <a:rPr lang="en-IN" dirty="0"/>
              <a:t>/share/</a:t>
            </a:r>
            <a:r>
              <a:rPr lang="en-IN" dirty="0" err="1"/>
              <a:t>nginx</a:t>
            </a:r>
            <a:r>
              <a:rPr lang="en-IN" dirty="0"/>
              <a:t>/html/index.html</a:t>
            </a:r>
          </a:p>
          <a:p>
            <a:r>
              <a:rPr lang="en-IN" dirty="0"/>
              <a:t>&lt;!DOCTYPE html&gt;</a:t>
            </a:r>
          </a:p>
          <a:p>
            <a:r>
              <a:rPr lang="en-IN" dirty="0"/>
              <a:t>&lt;html&gt;</a:t>
            </a:r>
          </a:p>
          <a:p>
            <a:r>
              <a:rPr lang="en-IN" dirty="0"/>
              <a:t>&lt;head&gt;</a:t>
            </a:r>
          </a:p>
          <a:p>
            <a:r>
              <a:rPr lang="en-IN" dirty="0"/>
              <a:t>    &lt;title&gt;Hello World&lt;/title&gt;</a:t>
            </a:r>
          </a:p>
          <a:p>
            <a:r>
              <a:rPr lang="en-IN" dirty="0"/>
              <a:t>&lt;/head&gt;</a:t>
            </a:r>
          </a:p>
          <a:p>
            <a:r>
              <a:rPr lang="en-IN" dirty="0"/>
              <a:t>&lt;body style="text-align: </a:t>
            </a:r>
            <a:r>
              <a:rPr lang="en-IN" dirty="0" err="1"/>
              <a:t>center</a:t>
            </a:r>
            <a:r>
              <a:rPr lang="en-IN" dirty="0"/>
              <a:t>; font-family: Arial; margin-top: 100px;"&gt;</a:t>
            </a:r>
          </a:p>
          <a:p>
            <a:r>
              <a:rPr lang="en-IN" dirty="0"/>
              <a:t>    &lt;h1&gt;Hello World!&lt;/h1&gt;</a:t>
            </a:r>
          </a:p>
          <a:p>
            <a:r>
              <a:rPr lang="en-IN" dirty="0"/>
              <a:t>    &lt;p&gt;Instance ID: &lt;strong&gt;$INSTANCE_ID&lt;/strong&gt;&lt;/p&gt;</a:t>
            </a:r>
          </a:p>
          <a:p>
            <a:r>
              <a:rPr lang="en-IN" dirty="0"/>
              <a:t>    &lt;p&gt;Availability Zone: &lt;strong&gt;$AZ&lt;/strong&gt;&lt;/p&gt;</a:t>
            </a:r>
          </a:p>
          <a:p>
            <a:r>
              <a:rPr lang="en-IN" dirty="0"/>
              <a:t>    &lt;p&gt;Served by: &lt;strong&gt;Nginx&lt;/strong&gt;&lt;/p&gt;</a:t>
            </a:r>
          </a:p>
          <a:p>
            <a:r>
              <a:rPr lang="en-IN" dirty="0"/>
              <a:t>&lt;/body&gt;</a:t>
            </a:r>
          </a:p>
          <a:p>
            <a:r>
              <a:rPr lang="en-IN" dirty="0"/>
              <a:t>&lt;/html&gt;</a:t>
            </a:r>
          </a:p>
          <a:p>
            <a:r>
              <a:rPr lang="en-IN" dirty="0"/>
              <a:t>EOF</a:t>
            </a:r>
          </a:p>
          <a:p>
            <a:endParaRPr lang="en-IN" dirty="0"/>
          </a:p>
          <a:p>
            <a:r>
              <a:rPr lang="en-IN" dirty="0"/>
              <a:t># Restart </a:t>
            </a:r>
            <a:r>
              <a:rPr lang="en-IN" dirty="0" err="1"/>
              <a:t>nginx</a:t>
            </a:r>
            <a:r>
              <a:rPr lang="en-IN" dirty="0"/>
              <a:t> to apply changes</a:t>
            </a:r>
          </a:p>
          <a:p>
            <a:r>
              <a:rPr lang="en-IN" dirty="0" err="1"/>
              <a:t>systemctl</a:t>
            </a:r>
            <a:r>
              <a:rPr lang="en-IN" dirty="0"/>
              <a:t> restart </a:t>
            </a:r>
            <a:r>
              <a:rPr lang="en-IN" dirty="0" err="1"/>
              <a:t>nginx</a:t>
            </a:r>
            <a:endParaRPr lang="en-IN" dirty="0"/>
          </a:p>
          <a:p>
            <a:r>
              <a:rPr lang="en-IN" dirty="0"/>
              <a:t>Now </a:t>
            </a:r>
            <a:r>
              <a:rPr lang="en-IN" dirty="0" err="1"/>
              <a:t>lunach</a:t>
            </a:r>
            <a:r>
              <a:rPr lang="en-IN" dirty="0"/>
              <a:t> instance tab and instance will be created with running status.</a:t>
            </a:r>
          </a:p>
          <a:p>
            <a:pPr marL="285750" indent="-285750">
              <a:buFont typeface="Arial" panose="020B0604020202020204" pitchFamily="34" charset="0"/>
              <a:buChar char="•"/>
            </a:pPr>
            <a:r>
              <a:rPr lang="en-IN" dirty="0"/>
              <a:t>Now repeat for private instance with respective configuration.</a:t>
            </a:r>
          </a:p>
          <a:p>
            <a:endParaRPr lang="en-IN" dirty="0"/>
          </a:p>
        </p:txBody>
      </p:sp>
    </p:spTree>
    <p:extLst>
      <p:ext uri="{BB962C8B-B14F-4D97-AF65-F5344CB8AC3E}">
        <p14:creationId xmlns:p14="http://schemas.microsoft.com/office/powerpoint/2010/main" val="60692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5BBED74-96A1-46F2-864B-05B2D15636F0}"/>
              </a:ext>
            </a:extLst>
          </p:cNvPr>
          <p:cNvSpPr>
            <a:spLocks noGrp="1"/>
          </p:cNvSpPr>
          <p:nvPr>
            <p:ph type="subTitle" idx="1"/>
          </p:nvPr>
        </p:nvSpPr>
        <p:spPr>
          <a:xfrm>
            <a:off x="1524000" y="403412"/>
            <a:ext cx="9144000" cy="4854388"/>
          </a:xfrm>
        </p:spPr>
        <p:txBody>
          <a:bodyPr/>
          <a:lstStyle/>
          <a:p>
            <a:pPr marL="342900" indent="-342900">
              <a:buFont typeface="Arial" panose="020B0604020202020204" pitchFamily="34" charset="0"/>
              <a:buChar char="•"/>
            </a:pPr>
            <a:r>
              <a:rPr lang="en-IN" sz="1800" dirty="0"/>
              <a:t>Now create </a:t>
            </a:r>
            <a:r>
              <a:rPr lang="en-IN" sz="1800" dirty="0" err="1"/>
              <a:t>loadbalancer</a:t>
            </a:r>
            <a:r>
              <a:rPr lang="en-IN" sz="1800" dirty="0"/>
              <a:t>  so give name as </a:t>
            </a:r>
            <a:r>
              <a:rPr lang="en-IN" sz="1800" dirty="0" err="1"/>
              <a:t>loadbalnce</a:t>
            </a:r>
            <a:r>
              <a:rPr lang="en-IN" sz="1800" dirty="0"/>
              <a:t>-task </a:t>
            </a:r>
            <a:r>
              <a:rPr lang="en-IN" sz="1800" dirty="0">
                <a:sym typeface="Wingdings" panose="05000000000000000000" pitchFamily="2" charset="2"/>
              </a:rPr>
              <a:t> select </a:t>
            </a:r>
            <a:r>
              <a:rPr lang="en-IN" sz="1800" dirty="0" err="1">
                <a:sym typeface="Wingdings" panose="05000000000000000000" pitchFamily="2" charset="2"/>
              </a:rPr>
              <a:t>segurity</a:t>
            </a:r>
            <a:r>
              <a:rPr lang="en-IN" sz="1800" dirty="0">
                <a:sym typeface="Wingdings" panose="05000000000000000000" pitchFamily="2" charset="2"/>
              </a:rPr>
              <a:t> groups for </a:t>
            </a:r>
            <a:r>
              <a:rPr lang="en-IN" sz="1800" dirty="0"/>
              <a:t>ALB (internet-facing) </a:t>
            </a:r>
            <a:r>
              <a:rPr lang="en-IN" sz="1800" dirty="0">
                <a:sym typeface="Wingdings" panose="05000000000000000000" pitchFamily="2" charset="2"/>
              </a:rPr>
              <a:t> add target groups for this we have to create target group and attach to </a:t>
            </a:r>
            <a:r>
              <a:rPr lang="en-IN" sz="1800" dirty="0" err="1">
                <a:sym typeface="Wingdings" panose="05000000000000000000" pitchFamily="2" charset="2"/>
              </a:rPr>
              <a:t>loadbalncer</a:t>
            </a:r>
            <a:r>
              <a:rPr lang="en-IN" sz="1800" dirty="0">
                <a:sym typeface="Wingdings" panose="05000000000000000000" pitchFamily="2" charset="2"/>
              </a:rPr>
              <a:t>. Then go to register ,select both instance and create target group.</a:t>
            </a:r>
          </a:p>
          <a:p>
            <a:pPr marL="342900" indent="-342900" algn="l">
              <a:buFont typeface="Arial" panose="020B0604020202020204" pitchFamily="34" charset="0"/>
              <a:buChar char="•"/>
            </a:pPr>
            <a:r>
              <a:rPr lang="en-IN" sz="1800" dirty="0">
                <a:sym typeface="Wingdings" panose="05000000000000000000" pitchFamily="2" charset="2"/>
              </a:rPr>
              <a:t>It will take some time to active ate the status of </a:t>
            </a:r>
            <a:r>
              <a:rPr lang="en-IN" sz="1800" dirty="0" err="1">
                <a:sym typeface="Wingdings" panose="05000000000000000000" pitchFamily="2" charset="2"/>
              </a:rPr>
              <a:t>loadbalncer</a:t>
            </a:r>
            <a:r>
              <a:rPr lang="en-IN" sz="1800" dirty="0">
                <a:sym typeface="Wingdings" panose="05000000000000000000" pitchFamily="2" charset="2"/>
              </a:rPr>
              <a:t> after showing active copy the DNs of </a:t>
            </a:r>
            <a:r>
              <a:rPr lang="en-IN" sz="1800" dirty="0" err="1">
                <a:sym typeface="Wingdings" panose="05000000000000000000" pitchFamily="2" charset="2"/>
              </a:rPr>
              <a:t>loadbalncer</a:t>
            </a:r>
            <a:r>
              <a:rPr lang="en-IN" sz="1800" dirty="0">
                <a:sym typeface="Wingdings" panose="05000000000000000000" pitchFamily="2" charset="2"/>
              </a:rPr>
              <a:t> and hit in new tab to host </a:t>
            </a:r>
          </a:p>
          <a:p>
            <a:pPr marL="342900" indent="-342900" algn="l">
              <a:buFont typeface="Arial" panose="020B0604020202020204" pitchFamily="34" charset="0"/>
              <a:buChar char="•"/>
            </a:pPr>
            <a:r>
              <a:rPr lang="en-IN" sz="1800" dirty="0">
                <a:sym typeface="Wingdings" panose="05000000000000000000" pitchFamily="2" charset="2"/>
              </a:rPr>
              <a:t>Finally it will show the desired web page </a:t>
            </a:r>
          </a:p>
          <a:p>
            <a:pPr algn="l"/>
            <a:r>
              <a:rPr lang="en-IN" sz="1800" dirty="0">
                <a:sym typeface="Wingdings" panose="05000000000000000000" pitchFamily="2" charset="2"/>
              </a:rPr>
              <a:t>But in my case, I apologise that error has occurs showing 502 Bad Gateway , means </a:t>
            </a:r>
            <a:r>
              <a:rPr lang="en-IN" sz="1800" dirty="0" err="1">
                <a:sym typeface="Wingdings" panose="05000000000000000000" pitchFamily="2" charset="2"/>
              </a:rPr>
              <a:t>nginx</a:t>
            </a:r>
            <a:r>
              <a:rPr lang="en-IN" sz="1800" dirty="0">
                <a:sym typeface="Wingdings" panose="05000000000000000000" pitchFamily="2" charset="2"/>
              </a:rPr>
              <a:t> is not getting request from ALB and I will resolve it update soon.</a:t>
            </a:r>
          </a:p>
          <a:p>
            <a:pPr marL="342900" indent="-342900">
              <a:buFont typeface="Arial" panose="020B0604020202020204" pitchFamily="34" charset="0"/>
              <a:buChar char="•"/>
            </a:pPr>
            <a:endParaRPr lang="en-IN" dirty="0">
              <a:sym typeface="Wingdings" panose="05000000000000000000" pitchFamily="2" charset="2"/>
            </a:endParaRP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lvl="0" algn="l" eaLnBrk="0" fontAlgn="base" hangingPunct="0">
              <a:lnSpc>
                <a:spcPct val="100000"/>
              </a:lnSpc>
              <a:spcBef>
                <a:spcPct val="0"/>
              </a:spcBef>
              <a:spcAft>
                <a:spcPct val="0"/>
              </a:spcAft>
            </a:pPr>
            <a:endParaRPr lang="en-US" altLang="en-US" sz="1600" dirty="0">
              <a:latin typeface="Arial" panose="020B0604020202020204" pitchFamily="34" charset="0"/>
            </a:endParaRP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390373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40BDB9D-FF30-4D58-90C2-F1F043175B20}"/>
              </a:ext>
            </a:extLst>
          </p:cNvPr>
          <p:cNvSpPr>
            <a:spLocks noGrp="1"/>
          </p:cNvSpPr>
          <p:nvPr>
            <p:ph type="subTitle" idx="1"/>
          </p:nvPr>
        </p:nvSpPr>
        <p:spPr>
          <a:xfrm>
            <a:off x="1272988" y="412376"/>
            <a:ext cx="9144000" cy="5670177"/>
          </a:xfrm>
        </p:spPr>
        <p:txBody>
          <a:bodyPr/>
          <a:lstStyle/>
          <a:p>
            <a:r>
              <a:rPr lang="en-IN" dirty="0"/>
              <a:t>List of AWS Resources Created</a:t>
            </a:r>
          </a:p>
          <a:p>
            <a:br>
              <a:rPr lang="en-IN" dirty="0"/>
            </a:br>
            <a:endParaRPr lang="en-IN" dirty="0"/>
          </a:p>
        </p:txBody>
      </p:sp>
      <p:graphicFrame>
        <p:nvGraphicFramePr>
          <p:cNvPr id="4" name="Table 3">
            <a:extLst>
              <a:ext uri="{FF2B5EF4-FFF2-40B4-BE49-F238E27FC236}">
                <a16:creationId xmlns:a16="http://schemas.microsoft.com/office/drawing/2014/main" id="{526F717D-EB6A-405D-8098-29F790858F0D}"/>
              </a:ext>
            </a:extLst>
          </p:cNvPr>
          <p:cNvGraphicFramePr>
            <a:graphicFrameLocks noGrp="1"/>
          </p:cNvGraphicFramePr>
          <p:nvPr>
            <p:extLst>
              <p:ext uri="{D42A27DB-BD31-4B8C-83A1-F6EECF244321}">
                <p14:modId xmlns:p14="http://schemas.microsoft.com/office/powerpoint/2010/main" val="2350904689"/>
              </p:ext>
            </p:extLst>
          </p:nvPr>
        </p:nvGraphicFramePr>
        <p:xfrm>
          <a:off x="1147481" y="1138518"/>
          <a:ext cx="8624046" cy="5521236"/>
        </p:xfrm>
        <a:graphic>
          <a:graphicData uri="http://schemas.openxmlformats.org/drawingml/2006/table">
            <a:tbl>
              <a:tblPr/>
              <a:tblGrid>
                <a:gridCol w="2874682">
                  <a:extLst>
                    <a:ext uri="{9D8B030D-6E8A-4147-A177-3AD203B41FA5}">
                      <a16:colId xmlns:a16="http://schemas.microsoft.com/office/drawing/2014/main" val="1904424303"/>
                    </a:ext>
                  </a:extLst>
                </a:gridCol>
                <a:gridCol w="2874682">
                  <a:extLst>
                    <a:ext uri="{9D8B030D-6E8A-4147-A177-3AD203B41FA5}">
                      <a16:colId xmlns:a16="http://schemas.microsoft.com/office/drawing/2014/main" val="3180623265"/>
                    </a:ext>
                  </a:extLst>
                </a:gridCol>
                <a:gridCol w="2874682">
                  <a:extLst>
                    <a:ext uri="{9D8B030D-6E8A-4147-A177-3AD203B41FA5}">
                      <a16:colId xmlns:a16="http://schemas.microsoft.com/office/drawing/2014/main" val="3905974497"/>
                    </a:ext>
                  </a:extLst>
                </a:gridCol>
              </a:tblGrid>
              <a:tr h="493486">
                <a:tc>
                  <a:txBody>
                    <a:bodyPr/>
                    <a:lstStyle/>
                    <a:p>
                      <a:pPr algn="l"/>
                      <a:r>
                        <a:rPr lang="en-IN" dirty="0">
                          <a:effectLst/>
                        </a:rPr>
                        <a:t>Resource Type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IN">
                          <a:effectLst/>
                        </a:rPr>
                        <a:t>Count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IN">
                          <a:effectLst/>
                        </a:rPr>
                        <a:t>Names/IDs Example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873162167"/>
                  </a:ext>
                </a:extLst>
              </a:tr>
              <a:tr h="493486">
                <a:tc>
                  <a:txBody>
                    <a:bodyPr/>
                    <a:lstStyle/>
                    <a:p>
                      <a:pPr algn="l"/>
                      <a:r>
                        <a:rPr lang="en-IN" dirty="0">
                          <a:effectLst/>
                        </a:rPr>
                        <a:t>VPC</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 Task-01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59283794"/>
                  </a:ext>
                </a:extLst>
              </a:tr>
              <a:tr h="835130">
                <a:tc>
                  <a:txBody>
                    <a:bodyPr/>
                    <a:lstStyle/>
                    <a:p>
                      <a:pPr algn="l"/>
                      <a:r>
                        <a:rPr lang="en-IN" dirty="0">
                          <a:effectLst/>
                        </a:rPr>
                        <a:t>Subnets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4</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public-01</a:t>
                      </a:r>
                    </a:p>
                    <a:p>
                      <a:pPr algn="l"/>
                      <a:r>
                        <a:rPr lang="en-IN" dirty="0">
                          <a:effectLst/>
                        </a:rPr>
                        <a:t>public-02</a:t>
                      </a:r>
                    </a:p>
                    <a:p>
                      <a:pPr algn="l"/>
                      <a:r>
                        <a:rPr lang="en-IN" dirty="0">
                          <a:effectLst/>
                        </a:rPr>
                        <a:t>private-01</a:t>
                      </a:r>
                    </a:p>
                    <a:p>
                      <a:pPr algn="l"/>
                      <a:r>
                        <a:rPr lang="en-IN" dirty="0">
                          <a:effectLst/>
                        </a:rPr>
                        <a:t>private-02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63501987"/>
                  </a:ext>
                </a:extLst>
              </a:tr>
              <a:tr h="493486">
                <a:tc>
                  <a:txBody>
                    <a:bodyPr/>
                    <a:lstStyle/>
                    <a:p>
                      <a:pPr algn="l"/>
                      <a:r>
                        <a:rPr lang="en-IN" dirty="0">
                          <a:effectLst/>
                        </a:rPr>
                        <a:t>Internet Gateway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Gateway-task</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27684535"/>
                  </a:ext>
                </a:extLst>
              </a:tr>
              <a:tr h="493486">
                <a:tc>
                  <a:txBody>
                    <a:bodyPr/>
                    <a:lstStyle/>
                    <a:p>
                      <a:pPr algn="l"/>
                      <a:r>
                        <a:rPr lang="en-IN">
                          <a:effectLst/>
                        </a:rPr>
                        <a:t>Route Tables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a:effectLst/>
                        </a:rPr>
                        <a:t>public-rt, private-rt</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83137946"/>
                  </a:ext>
                </a:extLst>
              </a:tr>
              <a:tr h="493486">
                <a:tc>
                  <a:txBody>
                    <a:bodyPr/>
                    <a:lstStyle/>
                    <a:p>
                      <a:pPr algn="l"/>
                      <a:r>
                        <a:rPr lang="en-IN">
                          <a:effectLst/>
                        </a:rPr>
                        <a:t>Security Groups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sz="1800" b="0" i="0" kern="1200" dirty="0" err="1">
                          <a:solidFill>
                            <a:schemeClr val="tx1"/>
                          </a:solidFill>
                          <a:effectLst/>
                          <a:latin typeface="+mn-lt"/>
                          <a:ea typeface="+mn-ea"/>
                          <a:cs typeface="+mn-cs"/>
                        </a:rPr>
                        <a:t>loaderbalnce</a:t>
                      </a:r>
                      <a:r>
                        <a:rPr lang="en-IN" sz="1800" b="0" i="0" kern="1200" dirty="0">
                          <a:solidFill>
                            <a:schemeClr val="tx1"/>
                          </a:solidFill>
                          <a:effectLst/>
                          <a:latin typeface="+mn-lt"/>
                          <a:ea typeface="+mn-ea"/>
                          <a:cs typeface="+mn-cs"/>
                        </a:rPr>
                        <a:t>-sg</a:t>
                      </a:r>
                    </a:p>
                    <a:p>
                      <a:pPr algn="l"/>
                      <a:r>
                        <a:rPr lang="en-IN" sz="1800" b="0" i="0" kern="1200" dirty="0">
                          <a:solidFill>
                            <a:schemeClr val="tx1"/>
                          </a:solidFill>
                          <a:effectLst/>
                          <a:latin typeface="+mn-lt"/>
                          <a:ea typeface="+mn-ea"/>
                          <a:cs typeface="+mn-cs"/>
                        </a:rPr>
                        <a:t>ec2-sg</a:t>
                      </a:r>
                      <a:endParaRPr lang="en-IN" dirty="0">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56035219"/>
                  </a:ext>
                </a:extLst>
              </a:tr>
              <a:tr h="493486">
                <a:tc>
                  <a:txBody>
                    <a:bodyPr/>
                    <a:lstStyle/>
                    <a:p>
                      <a:pPr algn="l"/>
                      <a:r>
                        <a:rPr lang="en-IN">
                          <a:effectLst/>
                        </a:rPr>
                        <a:t>EC2 Instances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Private-01</a:t>
                      </a:r>
                    </a:p>
                    <a:p>
                      <a:pPr algn="l"/>
                      <a:r>
                        <a:rPr lang="en-IN" dirty="0">
                          <a:effectLst/>
                        </a:rPr>
                        <a:t>Private-02</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36505412"/>
                  </a:ext>
                </a:extLst>
              </a:tr>
              <a:tr h="493486">
                <a:tc>
                  <a:txBody>
                    <a:bodyPr/>
                    <a:lstStyle/>
                    <a:p>
                      <a:pPr algn="l"/>
                      <a:r>
                        <a:rPr lang="en-IN">
                          <a:effectLst/>
                        </a:rPr>
                        <a:t>ALB</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sz="1800" b="0" i="0" kern="1200" dirty="0" err="1">
                          <a:solidFill>
                            <a:schemeClr val="tx1"/>
                          </a:solidFill>
                          <a:effectLst/>
                          <a:latin typeface="+mn-lt"/>
                          <a:ea typeface="+mn-ea"/>
                          <a:cs typeface="+mn-cs"/>
                        </a:rPr>
                        <a:t>Loadnancer</a:t>
                      </a:r>
                      <a:r>
                        <a:rPr lang="en-IN" sz="1800" b="0" i="0" kern="1200" dirty="0">
                          <a:solidFill>
                            <a:schemeClr val="tx1"/>
                          </a:solidFill>
                          <a:effectLst/>
                          <a:latin typeface="+mn-lt"/>
                          <a:ea typeface="+mn-ea"/>
                          <a:cs typeface="+mn-cs"/>
                        </a:rPr>
                        <a:t>-task</a:t>
                      </a:r>
                      <a:endParaRPr lang="en-IN" dirty="0">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11500251"/>
                  </a:ext>
                </a:extLst>
              </a:tr>
              <a:tr h="493486">
                <a:tc>
                  <a:txBody>
                    <a:bodyPr/>
                    <a:lstStyle/>
                    <a:p>
                      <a:pPr algn="l"/>
                      <a:r>
                        <a:rPr lang="en-IN">
                          <a:effectLst/>
                        </a:rPr>
                        <a:t>Target Group</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ctr"/>
                      <a:r>
                        <a:rPr lang="en-IN" dirty="0">
                          <a:effectLst/>
                        </a:rPr>
                        <a:t>1</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err="1">
                          <a:effectLst/>
                        </a:rPr>
                        <a:t>Tg</a:t>
                      </a:r>
                      <a:r>
                        <a:rPr lang="en-IN" dirty="0">
                          <a:effectLst/>
                        </a:rPr>
                        <a:t>-task</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98391826"/>
                  </a:ext>
                </a:extLst>
              </a:tr>
            </a:tbl>
          </a:graphicData>
        </a:graphic>
      </p:graphicFrame>
    </p:spTree>
    <p:extLst>
      <p:ext uri="{BB962C8B-B14F-4D97-AF65-F5344CB8AC3E}">
        <p14:creationId xmlns:p14="http://schemas.microsoft.com/office/powerpoint/2010/main" val="1085304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DF72D51-12EF-4792-A58E-B7549ACA443D}"/>
              </a:ext>
            </a:extLst>
          </p:cNvPr>
          <p:cNvSpPr>
            <a:spLocks noGrp="1"/>
          </p:cNvSpPr>
          <p:nvPr>
            <p:ph type="subTitle" idx="1"/>
          </p:nvPr>
        </p:nvSpPr>
        <p:spPr>
          <a:xfrm>
            <a:off x="950259" y="546100"/>
            <a:ext cx="9717741" cy="4711700"/>
          </a:xfrm>
        </p:spPr>
        <p:txBody>
          <a:bodyPr>
            <a:normAutofit fontScale="97500"/>
          </a:bodyPr>
          <a:lstStyle/>
          <a:p>
            <a:r>
              <a:rPr lang="en-IN" dirty="0"/>
              <a:t>Security group configurations</a:t>
            </a:r>
          </a:p>
          <a:p>
            <a:endParaRPr lang="en-IN" dirty="0"/>
          </a:p>
        </p:txBody>
      </p:sp>
      <p:graphicFrame>
        <p:nvGraphicFramePr>
          <p:cNvPr id="5" name="Table 4">
            <a:extLst>
              <a:ext uri="{FF2B5EF4-FFF2-40B4-BE49-F238E27FC236}">
                <a16:creationId xmlns:a16="http://schemas.microsoft.com/office/drawing/2014/main" id="{B0685336-D2BE-4B0C-954D-8D50E67B3CAE}"/>
              </a:ext>
            </a:extLst>
          </p:cNvPr>
          <p:cNvGraphicFramePr>
            <a:graphicFrameLocks noGrp="1"/>
          </p:cNvGraphicFramePr>
          <p:nvPr>
            <p:extLst>
              <p:ext uri="{D42A27DB-BD31-4B8C-83A1-F6EECF244321}">
                <p14:modId xmlns:p14="http://schemas.microsoft.com/office/powerpoint/2010/main" val="922189946"/>
              </p:ext>
            </p:extLst>
          </p:nvPr>
        </p:nvGraphicFramePr>
        <p:xfrm>
          <a:off x="860612" y="1380565"/>
          <a:ext cx="10493188" cy="2149773"/>
        </p:xfrm>
        <a:graphic>
          <a:graphicData uri="http://schemas.openxmlformats.org/drawingml/2006/table">
            <a:tbl>
              <a:tblPr/>
              <a:tblGrid>
                <a:gridCol w="3482788">
                  <a:extLst>
                    <a:ext uri="{9D8B030D-6E8A-4147-A177-3AD203B41FA5}">
                      <a16:colId xmlns:a16="http://schemas.microsoft.com/office/drawing/2014/main" val="3338957193"/>
                    </a:ext>
                  </a:extLst>
                </a:gridCol>
                <a:gridCol w="3505200">
                  <a:extLst>
                    <a:ext uri="{9D8B030D-6E8A-4147-A177-3AD203B41FA5}">
                      <a16:colId xmlns:a16="http://schemas.microsoft.com/office/drawing/2014/main" val="2021958092"/>
                    </a:ext>
                  </a:extLst>
                </a:gridCol>
                <a:gridCol w="3505200">
                  <a:extLst>
                    <a:ext uri="{9D8B030D-6E8A-4147-A177-3AD203B41FA5}">
                      <a16:colId xmlns:a16="http://schemas.microsoft.com/office/drawing/2014/main" val="1024077521"/>
                    </a:ext>
                  </a:extLst>
                </a:gridCol>
              </a:tblGrid>
              <a:tr h="716591">
                <a:tc>
                  <a:txBody>
                    <a:bodyPr/>
                    <a:lstStyle/>
                    <a:p>
                      <a:pPr algn="l"/>
                      <a:r>
                        <a:rPr lang="en-IN">
                          <a:effectLst/>
                        </a:rPr>
                        <a:t>SG Name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IN">
                          <a:effectLst/>
                        </a:rPr>
                        <a:t>Inbound Rules</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r>
                        <a:rPr lang="en-IN">
                          <a:effectLst/>
                        </a:rPr>
                        <a:t>Purpose</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422275140"/>
                  </a:ext>
                </a:extLst>
              </a:tr>
              <a:tr h="716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err="1">
                          <a:solidFill>
                            <a:schemeClr val="tx1"/>
                          </a:solidFill>
                          <a:effectLst/>
                          <a:latin typeface="+mn-lt"/>
                          <a:ea typeface="+mn-ea"/>
                          <a:cs typeface="+mn-cs"/>
                        </a:rPr>
                        <a:t>Loadnancer</a:t>
                      </a:r>
                      <a:r>
                        <a:rPr lang="en-IN" sz="1800" b="0" i="0" kern="1200" dirty="0">
                          <a:solidFill>
                            <a:schemeClr val="tx1"/>
                          </a:solidFill>
                          <a:effectLst/>
                          <a:latin typeface="+mn-lt"/>
                          <a:ea typeface="+mn-ea"/>
                          <a:cs typeface="+mn-cs"/>
                        </a:rPr>
                        <a:t>-task</a:t>
                      </a:r>
                      <a:endParaRPr lang="en-IN" dirty="0">
                        <a:effectLst/>
                      </a:endParaRPr>
                    </a:p>
                    <a:p>
                      <a:pPr algn="l"/>
                      <a:endParaRPr lang="en-IN" dirty="0">
                        <a:effectLst/>
                      </a:endParaRP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HTTP 80 from 0.0.0.0/0</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ALB (internet-facing)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79895046"/>
                  </a:ext>
                </a:extLst>
              </a:tr>
              <a:tr h="716591">
                <a:tc>
                  <a:txBody>
                    <a:bodyPr/>
                    <a:lstStyle/>
                    <a:p>
                      <a:pPr algn="l"/>
                      <a:r>
                        <a:rPr lang="en-IN" dirty="0">
                          <a:effectLst/>
                        </a:rPr>
                        <a:t>ec2-sg</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HTTP 80 from </a:t>
                      </a:r>
                      <a:r>
                        <a:rPr lang="en-IN" sz="1800" b="0" i="0" kern="1200" dirty="0" err="1">
                          <a:solidFill>
                            <a:schemeClr val="tx1"/>
                          </a:solidFill>
                          <a:effectLst/>
                          <a:latin typeface="+mn-lt"/>
                          <a:ea typeface="+mn-ea"/>
                          <a:cs typeface="+mn-cs"/>
                        </a:rPr>
                        <a:t>Loadnancer</a:t>
                      </a:r>
                      <a:r>
                        <a:rPr lang="en-IN" sz="1800" b="0" i="0" kern="1200" dirty="0">
                          <a:solidFill>
                            <a:schemeClr val="tx1"/>
                          </a:solidFill>
                          <a:effectLst/>
                          <a:latin typeface="+mn-lt"/>
                          <a:ea typeface="+mn-ea"/>
                          <a:cs typeface="+mn-cs"/>
                        </a:rPr>
                        <a:t>-task</a:t>
                      </a:r>
                      <a:endParaRPr lang="en-IN" dirty="0">
                        <a:effectLst/>
                      </a:endParaRPr>
                    </a:p>
                    <a:p>
                      <a:pPr algn="l"/>
                      <a:r>
                        <a:rPr lang="en-US" dirty="0">
                          <a:effectLst/>
                        </a:rPr>
                        <a:t> only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algn="l"/>
                      <a:r>
                        <a:rPr lang="en-IN" dirty="0">
                          <a:effectLst/>
                        </a:rPr>
                        <a:t>EC2 (ALB → EC2 only)</a:t>
                      </a:r>
                    </a:p>
                  </a:txBody>
                  <a:tcPr marL="60960" marR="60960" marT="60960" marB="6096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81489199"/>
                  </a:ext>
                </a:extLst>
              </a:tr>
            </a:tbl>
          </a:graphicData>
        </a:graphic>
      </p:graphicFrame>
    </p:spTree>
    <p:extLst>
      <p:ext uri="{BB962C8B-B14F-4D97-AF65-F5344CB8AC3E}">
        <p14:creationId xmlns:p14="http://schemas.microsoft.com/office/powerpoint/2010/main" val="462824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E61C-88CD-463D-962E-B7189FA2278A}"/>
              </a:ext>
            </a:extLst>
          </p:cNvPr>
          <p:cNvSpPr>
            <a:spLocks noGrp="1"/>
          </p:cNvSpPr>
          <p:nvPr>
            <p:ph type="ctrTitle"/>
          </p:nvPr>
        </p:nvSpPr>
        <p:spPr>
          <a:xfrm>
            <a:off x="1524000" y="1122363"/>
            <a:ext cx="9144000" cy="625755"/>
          </a:xfrm>
        </p:spPr>
        <p:txBody>
          <a:bodyPr>
            <a:normAutofit/>
          </a:bodyPr>
          <a:lstStyle/>
          <a:p>
            <a:r>
              <a:rPr lang="en-IN" sz="3600" dirty="0"/>
              <a:t>Configuration Files</a:t>
            </a:r>
          </a:p>
        </p:txBody>
      </p:sp>
      <p:sp>
        <p:nvSpPr>
          <p:cNvPr id="3" name="Subtitle 2">
            <a:extLst>
              <a:ext uri="{FF2B5EF4-FFF2-40B4-BE49-F238E27FC236}">
                <a16:creationId xmlns:a16="http://schemas.microsoft.com/office/drawing/2014/main" id="{7E20B4D7-A514-4C44-96B3-D39133F38777}"/>
              </a:ext>
            </a:extLst>
          </p:cNvPr>
          <p:cNvSpPr>
            <a:spLocks noGrp="1"/>
          </p:cNvSpPr>
          <p:nvPr>
            <p:ph type="subTitle" idx="1"/>
          </p:nvPr>
        </p:nvSpPr>
        <p:spPr>
          <a:xfrm>
            <a:off x="1524000" y="1900518"/>
            <a:ext cx="9144000" cy="3835119"/>
          </a:xfrm>
        </p:spPr>
        <p:txBody>
          <a:bodyPr>
            <a:normAutofit/>
          </a:bodyPr>
          <a:lstStyle/>
          <a:p>
            <a:r>
              <a:rPr lang="en-IN" dirty="0"/>
              <a:t>Nginx Configuration Files</a:t>
            </a:r>
          </a:p>
          <a:p>
            <a:pPr algn="l"/>
            <a:r>
              <a:rPr lang="en-IN" sz="1800" dirty="0"/>
              <a:t>#!/bin/bash</a:t>
            </a:r>
          </a:p>
          <a:p>
            <a:pPr algn="l"/>
            <a:r>
              <a:rPr lang="en-IN" sz="1800" dirty="0"/>
              <a:t>yum update -y</a:t>
            </a:r>
          </a:p>
          <a:p>
            <a:pPr algn="l"/>
            <a:r>
              <a:rPr lang="en-IN" sz="1800" dirty="0"/>
              <a:t>yum install -y </a:t>
            </a:r>
            <a:r>
              <a:rPr lang="en-IN" sz="1800" dirty="0" err="1"/>
              <a:t>nginx</a:t>
            </a:r>
            <a:endParaRPr lang="en-IN" sz="1800" dirty="0"/>
          </a:p>
          <a:p>
            <a:pPr algn="l"/>
            <a:r>
              <a:rPr lang="en-IN" sz="1800" dirty="0"/>
              <a:t># Start and enable </a:t>
            </a:r>
            <a:r>
              <a:rPr lang="en-IN" sz="1800" dirty="0" err="1"/>
              <a:t>nginx</a:t>
            </a:r>
            <a:endParaRPr lang="en-IN" sz="1800" dirty="0"/>
          </a:p>
          <a:p>
            <a:pPr algn="l"/>
            <a:r>
              <a:rPr lang="en-IN" sz="1800" dirty="0" err="1"/>
              <a:t>systemctl</a:t>
            </a:r>
            <a:r>
              <a:rPr lang="en-IN" sz="1800" dirty="0"/>
              <a:t> start </a:t>
            </a:r>
            <a:r>
              <a:rPr lang="en-IN" sz="1800" dirty="0" err="1"/>
              <a:t>nginx</a:t>
            </a:r>
            <a:endParaRPr lang="en-IN" sz="1800" dirty="0"/>
          </a:p>
          <a:p>
            <a:pPr algn="l"/>
            <a:r>
              <a:rPr lang="en-IN" sz="1800" dirty="0" err="1"/>
              <a:t>systemctl</a:t>
            </a:r>
            <a:r>
              <a:rPr lang="en-IN" sz="1800" dirty="0"/>
              <a:t> enable </a:t>
            </a:r>
            <a:r>
              <a:rPr lang="en-IN" sz="1800" dirty="0" err="1"/>
              <a:t>nginx</a:t>
            </a:r>
            <a:endParaRPr lang="en-IN" sz="1800" dirty="0"/>
          </a:p>
          <a:p>
            <a:pPr marL="342900" indent="-342900">
              <a:buFont typeface="Arial" panose="020B0604020202020204" pitchFamily="34" charset="0"/>
              <a:buChar char="•"/>
            </a:pPr>
            <a:endParaRPr lang="en-IN" dirty="0"/>
          </a:p>
        </p:txBody>
      </p:sp>
    </p:spTree>
    <p:extLst>
      <p:ext uri="{BB962C8B-B14F-4D97-AF65-F5344CB8AC3E}">
        <p14:creationId xmlns:p14="http://schemas.microsoft.com/office/powerpoint/2010/main" val="2388273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8FE9781-A22D-4CE7-8B8B-5BB0BF0DC70B}"/>
              </a:ext>
            </a:extLst>
          </p:cNvPr>
          <p:cNvSpPr>
            <a:spLocks noGrp="1"/>
          </p:cNvSpPr>
          <p:nvPr>
            <p:ph type="subTitle" idx="1"/>
          </p:nvPr>
        </p:nvSpPr>
        <p:spPr>
          <a:xfrm>
            <a:off x="1523999" y="313765"/>
            <a:ext cx="10094259" cy="8148917"/>
          </a:xfrm>
        </p:spPr>
        <p:txBody>
          <a:bodyPr>
            <a:noAutofit/>
          </a:bodyPr>
          <a:lstStyle/>
          <a:p>
            <a:r>
              <a:rPr lang="en-IN" sz="3600" dirty="0"/>
              <a:t>HTML page code</a:t>
            </a:r>
          </a:p>
          <a:p>
            <a:pPr algn="l"/>
            <a:r>
              <a:rPr lang="en-IN" sz="1800" dirty="0"/>
              <a:t># Get instance metadata</a:t>
            </a:r>
          </a:p>
          <a:p>
            <a:pPr algn="l"/>
            <a:r>
              <a:rPr lang="en-IN" sz="1800" dirty="0"/>
              <a:t>INSTANCE_ID=$(curl -s http://169.254.169.254/latest/meta-data/instance-id)</a:t>
            </a:r>
          </a:p>
          <a:p>
            <a:pPr algn="l"/>
            <a:r>
              <a:rPr lang="en-IN" sz="1800" dirty="0"/>
              <a:t>AZ=$(curl -s http://169.254.169.254/latest/meta-data/placement/availability-zone)</a:t>
            </a:r>
          </a:p>
          <a:p>
            <a:pPr algn="l"/>
            <a:r>
              <a:rPr lang="en-IN" sz="1800" dirty="0"/>
              <a:t># Create custom index.html</a:t>
            </a:r>
          </a:p>
          <a:p>
            <a:pPr algn="l"/>
            <a:r>
              <a:rPr lang="en-IN" sz="1800" dirty="0"/>
              <a:t>cat &lt;&lt;EOF &gt; /</a:t>
            </a:r>
            <a:r>
              <a:rPr lang="en-IN" sz="1800" dirty="0" err="1"/>
              <a:t>usr</a:t>
            </a:r>
            <a:r>
              <a:rPr lang="en-IN" sz="1800" dirty="0"/>
              <a:t>/share/</a:t>
            </a:r>
            <a:r>
              <a:rPr lang="en-IN" sz="1800" dirty="0" err="1"/>
              <a:t>nginx</a:t>
            </a:r>
            <a:r>
              <a:rPr lang="en-IN" sz="1800" dirty="0"/>
              <a:t>/html/index.html</a:t>
            </a:r>
          </a:p>
          <a:p>
            <a:pPr algn="l"/>
            <a:r>
              <a:rPr lang="en-IN" sz="1800" dirty="0"/>
              <a:t>&lt;!DOCTYPE html&gt;</a:t>
            </a:r>
          </a:p>
          <a:p>
            <a:pPr algn="l"/>
            <a:r>
              <a:rPr lang="en-IN" sz="1800" dirty="0"/>
              <a:t>&lt;html&gt;</a:t>
            </a:r>
          </a:p>
          <a:p>
            <a:pPr algn="l"/>
            <a:r>
              <a:rPr lang="en-IN" sz="1800" dirty="0"/>
              <a:t>&lt;head&gt;</a:t>
            </a:r>
          </a:p>
          <a:p>
            <a:pPr algn="l"/>
            <a:r>
              <a:rPr lang="en-IN" sz="1800" dirty="0"/>
              <a:t>    &lt;title&gt;Hello World&lt;/title&gt;</a:t>
            </a:r>
          </a:p>
          <a:p>
            <a:pPr algn="l"/>
            <a:r>
              <a:rPr lang="en-IN" sz="1800" dirty="0"/>
              <a:t>&lt;/head&gt;</a:t>
            </a:r>
          </a:p>
          <a:p>
            <a:pPr algn="l"/>
            <a:r>
              <a:rPr lang="en-IN" sz="1800" dirty="0"/>
              <a:t>&lt;body style="text-align: </a:t>
            </a:r>
            <a:r>
              <a:rPr lang="en-IN" sz="1800" dirty="0" err="1"/>
              <a:t>center</a:t>
            </a:r>
            <a:r>
              <a:rPr lang="en-IN" sz="1800" dirty="0"/>
              <a:t>; font-family: Arial; margin-top: 100px;"&gt;</a:t>
            </a:r>
          </a:p>
          <a:p>
            <a:pPr algn="l"/>
            <a:r>
              <a:rPr lang="en-IN" sz="1800" dirty="0"/>
              <a:t>    &lt;h1&gt;Hello World!&lt;/h1&gt;</a:t>
            </a:r>
          </a:p>
          <a:p>
            <a:pPr algn="l"/>
            <a:r>
              <a:rPr lang="en-IN" sz="1800" dirty="0"/>
              <a:t>    &lt;p&gt;Instance ID: &lt;strong&gt;$INSTANCE_ID&lt;/strong&gt;&lt;/p&gt;</a:t>
            </a:r>
          </a:p>
          <a:p>
            <a:pPr algn="l"/>
            <a:r>
              <a:rPr lang="en-IN" sz="1800" dirty="0"/>
              <a:t>    &lt;p&gt;Availability Zone: &lt;strong&gt;$AZ&lt;/strong&gt;&lt;/p&gt;</a:t>
            </a:r>
          </a:p>
          <a:p>
            <a:pPr algn="l"/>
            <a:r>
              <a:rPr lang="en-IN" sz="1800" dirty="0"/>
              <a:t>    &lt;p&gt;Served by: &lt;strong&gt;Nginx&lt;/strong&gt;&lt;/p&gt;</a:t>
            </a:r>
          </a:p>
          <a:p>
            <a:pPr algn="l"/>
            <a:r>
              <a:rPr lang="en-IN" sz="1800" dirty="0"/>
              <a:t>&lt;/body&gt;</a:t>
            </a:r>
          </a:p>
          <a:p>
            <a:pPr algn="l"/>
            <a:r>
              <a:rPr lang="en-IN" sz="1800" dirty="0"/>
              <a:t>&lt;/html&gt;</a:t>
            </a:r>
          </a:p>
          <a:p>
            <a:pPr algn="l"/>
            <a:r>
              <a:rPr lang="en-IN" sz="1800" dirty="0"/>
              <a:t>EOF</a:t>
            </a:r>
          </a:p>
          <a:p>
            <a:pPr algn="l"/>
            <a:endParaRPr lang="en-IN" sz="1800" dirty="0"/>
          </a:p>
          <a:p>
            <a:pPr algn="l"/>
            <a:r>
              <a:rPr lang="en-IN" sz="1800" dirty="0"/>
              <a:t># Restart </a:t>
            </a:r>
            <a:r>
              <a:rPr lang="en-IN" sz="1800" dirty="0" err="1"/>
              <a:t>nginx</a:t>
            </a:r>
            <a:r>
              <a:rPr lang="en-IN" sz="1800" dirty="0"/>
              <a:t> to apply changes</a:t>
            </a:r>
          </a:p>
          <a:p>
            <a:pPr algn="l"/>
            <a:r>
              <a:rPr lang="en-IN" sz="1800" dirty="0" err="1"/>
              <a:t>systemctl</a:t>
            </a:r>
            <a:r>
              <a:rPr lang="en-IN" sz="1800" dirty="0"/>
              <a:t> restart </a:t>
            </a:r>
            <a:r>
              <a:rPr lang="en-IN" sz="1800" dirty="0" err="1"/>
              <a:t>nginx</a:t>
            </a:r>
            <a:endParaRPr lang="en-IN" sz="1800" dirty="0"/>
          </a:p>
        </p:txBody>
      </p:sp>
    </p:spTree>
    <p:extLst>
      <p:ext uri="{BB962C8B-B14F-4D97-AF65-F5344CB8AC3E}">
        <p14:creationId xmlns:p14="http://schemas.microsoft.com/office/powerpoint/2010/main" val="1302653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F2703-C253-46CE-94B6-C14B809FF7A4}"/>
              </a:ext>
            </a:extLst>
          </p:cNvPr>
          <p:cNvSpPr>
            <a:spLocks noGrp="1"/>
          </p:cNvSpPr>
          <p:nvPr>
            <p:ph type="title"/>
          </p:nvPr>
        </p:nvSpPr>
        <p:spPr>
          <a:xfrm>
            <a:off x="838200" y="365125"/>
            <a:ext cx="10515600" cy="4977840"/>
          </a:xfrm>
        </p:spPr>
        <p:txBody>
          <a:bodyPr/>
          <a:lstStyle/>
          <a:p>
            <a:pPr algn="ctr"/>
            <a:r>
              <a:rPr lang="en-IN" dirty="0"/>
              <a:t>Thank You</a:t>
            </a:r>
          </a:p>
        </p:txBody>
      </p:sp>
    </p:spTree>
    <p:extLst>
      <p:ext uri="{BB962C8B-B14F-4D97-AF65-F5344CB8AC3E}">
        <p14:creationId xmlns:p14="http://schemas.microsoft.com/office/powerpoint/2010/main" val="11290676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1196</Words>
  <Application>Microsoft Office PowerPoint</Application>
  <PresentationFormat>Widescreen</PresentationFormat>
  <Paragraphs>169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DevOps Engineer Technical Assessment</vt:lpstr>
      <vt:lpstr>Architecture Diagram </vt:lpstr>
      <vt:lpstr>Working Application</vt:lpstr>
      <vt:lpstr>Load balancer URL</vt:lpstr>
      <vt:lpstr>Step-by-step guide to perform task </vt:lpstr>
      <vt:lpstr>PowerPoint Presentation</vt:lpstr>
      <vt:lpstr>PowerPoint Presentation</vt:lpstr>
      <vt:lpstr>PowerPoint Presentation</vt:lpstr>
      <vt:lpstr>PowerPoint Presentation</vt:lpstr>
      <vt:lpstr>PowerPoint Presentation</vt:lpstr>
      <vt:lpstr>PowerPoint Presentation</vt:lpstr>
      <vt:lpstr>Configuration Files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Engineer Technical Assessment</dc:title>
  <dc:creator>Vaibhav Rode</dc:creator>
  <cp:lastModifiedBy>Vaibhav Rode</cp:lastModifiedBy>
  <cp:revision>20</cp:revision>
  <dcterms:created xsi:type="dcterms:W3CDTF">2026-02-07T18:15:05Z</dcterms:created>
  <dcterms:modified xsi:type="dcterms:W3CDTF">2026-02-09T05:03:32Z</dcterms:modified>
</cp:coreProperties>
</file>